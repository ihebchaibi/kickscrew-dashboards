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56692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AB7C8"/>
                </a:solidFill>
              </a:rPr>
              <a:t>KICKS CREW ADS ME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April recovered efficiency. May is about controlled scale.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202082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CBD5E1"/>
                </a:solidFill>
              </a:rPr>
              <a:t>Monthly Report - April 2026 vs March 2026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585216" y="2880360"/>
            <a:ext cx="2240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04495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30449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April ROAS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3319272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9.85x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374904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vs 7.62x in March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585216" y="4050792"/>
            <a:ext cx="224028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2880360"/>
            <a:ext cx="2240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304495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30449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April CPO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3227832" y="3319272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$21.06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27832" y="374904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back under $22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3063240" y="4050792"/>
            <a:ext cx="224028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41264" y="2880360"/>
            <a:ext cx="2240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05856" y="304495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34456" y="30449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Platform revenue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5705856" y="3319272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$600K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05856" y="374904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+67.3% MoM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541264" y="4050792"/>
            <a:ext cx="224028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19288" y="2880360"/>
            <a:ext cx="22402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04495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04495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Shopify ME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8183880" y="3319272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$468K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83880" y="3749040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ground truth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8019288" y="4050792"/>
            <a:ext cx="2240280" cy="64008"/>
          </a:xfrm>
          <a:prstGeom prst="rect">
            <a:avLst/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5989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AAB7C8"/>
                </a:solidFill>
              </a:rPr>
              <a:t>Sources: Google Ads + Meta Ads + Snapchat Ads + GA4 ME + Shopify (Windsor.ai). April Shopify reconciled to Admin.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11173968" y="63642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BD5E1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April fixed the March efficiency problem.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rose 29%, but revenue rose 67%, pulling CPO back below the $22 guardrail.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5623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562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Spend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31520" y="21305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$60,906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+29.4% vs March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66928" y="2724912"/>
            <a:ext cx="2103120" cy="64008"/>
          </a:xfrm>
          <a:prstGeom prst="rect">
            <a:avLst/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1216" y="16916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185623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18562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Revenue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035808" y="21305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$600,131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35808" y="256032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+67.3% vs March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871216" y="2724912"/>
            <a:ext cx="210312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75504" y="16916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0096" y="185623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68696" y="18562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ROAS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5340096" y="21305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9.85x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0096" y="256032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+29.3% vs March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175504" y="2724912"/>
            <a:ext cx="210312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79792" y="169164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44384" y="185623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72984" y="18562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CPO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7644384" y="213055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$21.06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44384" y="256032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-17.7% vs March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7479792" y="2724912"/>
            <a:ext cx="210312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3246120"/>
            <a:ext cx="470916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3511296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" y="359816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" y="3570732"/>
            <a:ext cx="685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822960" y="39502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April was not just more spend. It was better budget quality.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2960" y="4526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080"/>
                </a:solidFill>
              </a:rPr>
              <a:t>AE PMax, Meta catalog/product-burst campaigns, and Snapchat created enough efficiency to turn March's CPO problem into April's scale problem.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32120" y="3246120"/>
            <a:ext cx="50749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88152" y="3511296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70448" y="3598164"/>
            <a:ext cx="82296" cy="82296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98464" y="357073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8A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 issue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5788152" y="39502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$137K underspend vs the April OKR model.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788152" y="45262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57080"/>
                </a:solidFill>
              </a:rPr>
              <a:t>The account can run efficiently, but spend reached only 31% of the monthly OKR budget target. May should scale proven lanes, not the whole account.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April beat March on efficiency and quality.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account spent more, generated meaningfully more revenue, and lowered CPO.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8229600" cy="393192"/>
          </a:xfrm>
          <a:prstGeom prst="rect">
            <a:avLst/>
          </a:prstGeom>
          <a:solidFill>
            <a:srgbClr val="EDF2F7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373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3136392" y="17373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4507992" y="17373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April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879592" y="173736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7022592" y="17373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566928" y="2057400"/>
            <a:ext cx="8229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3055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Blended Spend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3136392" y="21305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$47,079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507992" y="213055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$60,906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879592" y="213055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+29.4%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7022592" y="213055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fuel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66928" y="2450592"/>
            <a:ext cx="8229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5237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Blended Revenue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3136392" y="252374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$358,817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507992" y="252374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$600,131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5879592" y="252374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+67.3%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7022592" y="252374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66928" y="2843784"/>
            <a:ext cx="8229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91693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Blended ROAS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3136392" y="29169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7.62x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4507992" y="29169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9.85x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879592" y="291693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+29.3%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7022592" y="2916936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Above 7x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66928" y="3236976"/>
            <a:ext cx="8229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310128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Blended CPO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3136392" y="33101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$25.58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4507992" y="331012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$21.06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5879592" y="331012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-17.7%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7022592" y="331012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$22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566928" y="3630168"/>
            <a:ext cx="8229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70332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GA4 ME Revenue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3136392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$433,716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4507992" y="370332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$483,646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5879592" y="37033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+11.5%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7022592" y="370332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66928" y="4023360"/>
            <a:ext cx="8229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09651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GA4 ME Purchases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3136392" y="40965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2,132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4507992" y="40965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2,353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5879592" y="40965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+10.4%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7022592" y="409651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566928" y="4416552"/>
            <a:ext cx="82296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" y="448970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Shopify ME Revenue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3136392" y="4489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4507992" y="4489704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$468,276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5879592" y="448970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870" dirty="0"/>
          </a:p>
        </p:txBody>
      </p:sp>
      <p:sp>
        <p:nvSpPr>
          <p:cNvPr id="55" name="Text 53"/>
          <p:cNvSpPr/>
          <p:nvPr/>
        </p:nvSpPr>
        <p:spPr>
          <a:xfrm>
            <a:off x="7022592" y="448970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truth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9052560" y="1664208"/>
            <a:ext cx="2240280" cy="31546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99448" y="1938528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81744" y="202539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09760" y="1997964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Readout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9299448" y="2395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</a:rPr>
              <a:t>March was the CPO break.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9299448" y="2971800"/>
            <a:ext cx="1719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</a:rPr>
              <a:t>April fixed it: higher spend, higher revenue, better ROAS, and a lower CPO.</a:t>
            </a:r>
            <a:endParaRPr lang="en-US" sz="920" dirty="0"/>
          </a:p>
        </p:txBody>
      </p:sp>
      <p:sp>
        <p:nvSpPr>
          <p:cNvPr id="62" name="Shape 60"/>
          <p:cNvSpPr/>
          <p:nvPr/>
        </p:nvSpPr>
        <p:spPr>
          <a:xfrm>
            <a:off x="9299448" y="3977640"/>
            <a:ext cx="169164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99448" y="420624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57080"/>
                </a:solidFill>
              </a:rPr>
              <a:t>Signal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9299448" y="4480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2A"/>
                </a:solidFill>
              </a:rPr>
              <a:t>Traffic quality improved even while sessions fell.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April proved efficiency, but missed OKR scale.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 cleared target; budget deployment and GMV remain the structural gaps.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7269480" cy="393192"/>
          </a:xfrm>
          <a:prstGeom prst="rect">
            <a:avLst/>
          </a:prstGeom>
          <a:solidFill>
            <a:srgbClr val="EDF2F7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3736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2633472" y="17373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OKR target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4050792" y="173736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April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285232" y="17373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target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6702552" y="173736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7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566928" y="2057400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3055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GMV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2633472" y="2130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$2,667K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050792" y="2130552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$468K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285232" y="213055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17.6%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702552" y="213055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66928" y="2450592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52374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GMV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2633472" y="252374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$3,000K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4050792" y="2523744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$468K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5285232" y="252374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15.6%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702552" y="252374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66928" y="2843784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91693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Budget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2633472" y="29169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$197.5K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4050792" y="2916936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$60.9K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285232" y="291693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30.8%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702552" y="2916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66928" y="3236976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31012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ROAS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2633472" y="331012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13.5x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4050792" y="3310128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9.85x</a:t>
            </a:r>
            <a:endParaRPr lang="en-US" sz="870" dirty="0"/>
          </a:p>
        </p:txBody>
      </p:sp>
      <p:sp>
        <p:nvSpPr>
          <p:cNvPr id="36" name="Text 34"/>
          <p:cNvSpPr/>
          <p:nvPr/>
        </p:nvSpPr>
        <p:spPr>
          <a:xfrm>
            <a:off x="5285232" y="3310128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73.0%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6702552" y="331012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566928" y="3630168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3703320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CPO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2633472" y="370332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$13.50</a:t>
            </a:r>
            <a:endParaRPr lang="en-US" sz="870" dirty="0"/>
          </a:p>
        </p:txBody>
      </p:sp>
      <p:sp>
        <p:nvSpPr>
          <p:cNvPr id="41" name="Text 39"/>
          <p:cNvSpPr/>
          <p:nvPr/>
        </p:nvSpPr>
        <p:spPr>
          <a:xfrm>
            <a:off x="4050792" y="37033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$21.06</a:t>
            </a:r>
            <a:endParaRPr lang="en-US" sz="870" dirty="0"/>
          </a:p>
        </p:txBody>
      </p:sp>
      <p:sp>
        <p:nvSpPr>
          <p:cNvPr id="42" name="Text 40"/>
          <p:cNvSpPr/>
          <p:nvPr/>
        </p:nvSpPr>
        <p:spPr>
          <a:xfrm>
            <a:off x="5285232" y="370332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by $7.56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6702552" y="3703320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566928" y="4023360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096512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2633472" y="40965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14,250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4050792" y="4096512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2,532</a:t>
            </a:r>
            <a:endParaRPr lang="en-US" sz="870" dirty="0"/>
          </a:p>
        </p:txBody>
      </p:sp>
      <p:sp>
        <p:nvSpPr>
          <p:cNvPr id="48" name="Text 46"/>
          <p:cNvSpPr/>
          <p:nvPr/>
        </p:nvSpPr>
        <p:spPr>
          <a:xfrm>
            <a:off x="5285232" y="4096512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17.8%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6702552" y="409651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566928" y="4416552"/>
            <a:ext cx="726948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" y="448970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AOV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2633472" y="448970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$175+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4050792" y="4489704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$184.96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5285232" y="448970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105.7%</a:t>
            </a:r>
            <a:endParaRPr lang="en-US" sz="870" dirty="0"/>
          </a:p>
        </p:txBody>
      </p:sp>
      <p:sp>
        <p:nvSpPr>
          <p:cNvPr id="55" name="Text 53"/>
          <p:cNvSpPr/>
          <p:nvPr/>
        </p:nvSpPr>
        <p:spPr>
          <a:xfrm>
            <a:off x="6702552" y="44897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8229600" y="1664208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394192" y="1828800"/>
            <a:ext cx="164592" cy="164592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22792" y="18288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Budget deployed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8394192" y="2103120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30.8%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8394192" y="2532888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$60.9K of $197.5K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8229600" y="2743200"/>
            <a:ext cx="2423160" cy="64008"/>
          </a:xfrm>
          <a:prstGeom prst="rect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29600" y="2999232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94192" y="316382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22792" y="316382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AOV</a:t>
            </a:r>
            <a:endParaRPr lang="en-US" sz="780" dirty="0"/>
          </a:p>
        </p:txBody>
      </p:sp>
      <p:sp>
        <p:nvSpPr>
          <p:cNvPr id="65" name="Text 63"/>
          <p:cNvSpPr/>
          <p:nvPr/>
        </p:nvSpPr>
        <p:spPr>
          <a:xfrm>
            <a:off x="8394192" y="3438144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$184.96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8394192" y="3867912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above $175 target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8229600" y="4078224"/>
            <a:ext cx="242316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29600" y="4343400"/>
            <a:ext cx="24231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94192" y="450799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622792" y="45079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Main gap</a:t>
            </a:r>
            <a:endParaRPr lang="en-US" sz="780" dirty="0"/>
          </a:p>
        </p:txBody>
      </p:sp>
      <p:sp>
        <p:nvSpPr>
          <p:cNvPr id="71" name="Text 69"/>
          <p:cNvSpPr/>
          <p:nvPr/>
        </p:nvSpPr>
        <p:spPr>
          <a:xfrm>
            <a:off x="8394192" y="478231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2200" dirty="0"/>
          </a:p>
        </p:txBody>
      </p:sp>
      <p:sp>
        <p:nvSpPr>
          <p:cNvPr id="72" name="Text 70"/>
          <p:cNvSpPr/>
          <p:nvPr/>
        </p:nvSpPr>
        <p:spPr>
          <a:xfrm>
            <a:off x="8394192" y="5212080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not basic efficiency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8229600" y="5422392"/>
            <a:ext cx="2423160" cy="64008"/>
          </a:xfrm>
          <a:prstGeom prst="rect">
            <a:avLst/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 recovered from March, but two campaigns still leak CPO.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 PMax became the new revenue engine; SA Shop Conversion and KU PMax need repair.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600200"/>
            <a:ext cx="7973568" cy="411480"/>
          </a:xfrm>
          <a:prstGeom prst="rect">
            <a:avLst/>
          </a:prstGeom>
          <a:solidFill>
            <a:srgbClr val="EDF2F7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7335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3456432" y="167335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416552" y="167335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5468112" y="167335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6199632" y="167335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CPO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7022592" y="16733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7680960" y="167335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566928" y="2011680"/>
            <a:ext cx="79735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08483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AE-Sales-Performance-Max #NEW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456432" y="208483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$12,408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416552" y="208483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$156,760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5468112" y="208483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12.6x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6199632" y="208483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$16.43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7022592" y="208483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755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7680960" y="208483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566928" y="2423160"/>
            <a:ext cx="79735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49631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KicksCrew -Performance max- SA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3456432" y="249631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$10,668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4416552" y="249631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$93,565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5468112" y="249631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8.8x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6199632" y="249631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$21.97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7022592" y="24963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486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7680960" y="249631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66928" y="2834640"/>
            <a:ext cx="79735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290779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KicksCrew -Shop Conversion - SA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3456432" y="290779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$9,140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416552" y="290779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$53,433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5468112" y="290779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5.8x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199632" y="290779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$33.80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7022592" y="29077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270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7680960" y="290779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66928" y="3246120"/>
            <a:ext cx="797356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331927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KicksCrew -Performance max- KU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3456432" y="331927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$2,393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4416552" y="331927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$15,629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5468112" y="331927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6.5x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6199632" y="331927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$30.47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7022592" y="33192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7680960" y="331927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66928" y="3657600"/>
            <a:ext cx="7973568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3730752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3456432" y="3730752"/>
            <a:ext cx="850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$34,713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4416552" y="3730752"/>
            <a:ext cx="94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$321,213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5468112" y="373075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9.25x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6199632" y="373075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$21.73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7022592" y="373075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1,598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7680960" y="3730752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566928" y="4572000"/>
            <a:ext cx="93268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2960" y="48006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57080"/>
                </a:solidFill>
              </a:rPr>
              <a:t>March to April improvement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22960" y="50749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202A"/>
                </a:solidFill>
              </a:rPr>
              <a:t>Google ROAS rose from 6.67x to 9.25x, while CPO fell from $27.70 to $21.73.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 got clearer after the split: UAE works, KSA/GCC/EG need rework.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Catalogs and product bursts stayed healthy; the 2604 split gave cleaner market-level reads.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536192"/>
            <a:ext cx="7763256" cy="356616"/>
          </a:xfrm>
          <a:prstGeom prst="rect">
            <a:avLst/>
          </a:prstGeom>
          <a:solidFill>
            <a:srgbClr val="EDF2F7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093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</a:t>
            </a:r>
            <a:endParaRPr lang="en-US" sz="640" dirty="0"/>
          </a:p>
        </p:txBody>
      </p:sp>
      <p:sp>
        <p:nvSpPr>
          <p:cNvPr id="10" name="Text 8"/>
          <p:cNvSpPr/>
          <p:nvPr/>
        </p:nvSpPr>
        <p:spPr>
          <a:xfrm>
            <a:off x="3364992" y="160934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640" dirty="0"/>
          </a:p>
        </p:txBody>
      </p:sp>
      <p:sp>
        <p:nvSpPr>
          <p:cNvPr id="11" name="Text 9"/>
          <p:cNvSpPr/>
          <p:nvPr/>
        </p:nvSpPr>
        <p:spPr>
          <a:xfrm>
            <a:off x="4279392" y="160934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5285232" y="1609344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ROAS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5971032" y="160934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CPO</a:t>
            </a:r>
            <a:endParaRPr lang="en-US" sz="640" dirty="0"/>
          </a:p>
        </p:txBody>
      </p:sp>
      <p:sp>
        <p:nvSpPr>
          <p:cNvPr id="14" name="Text 12"/>
          <p:cNvSpPr/>
          <p:nvPr/>
        </p:nvSpPr>
        <p:spPr>
          <a:xfrm>
            <a:off x="6757416" y="160934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Purch.</a:t>
            </a:r>
            <a:endParaRPr lang="en-US" sz="640" dirty="0"/>
          </a:p>
        </p:txBody>
      </p:sp>
      <p:sp>
        <p:nvSpPr>
          <p:cNvPr id="15" name="Text 13"/>
          <p:cNvSpPr/>
          <p:nvPr/>
        </p:nvSpPr>
        <p:spPr>
          <a:xfrm>
            <a:off x="7379208" y="160934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566928" y="1892808"/>
            <a:ext cx="7763256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19659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KC Catalog sales 4.0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3364992" y="19659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$8,141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4279392" y="19659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$75,764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5285232" y="1965960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9.3x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5971032" y="1965960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$20.56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6757416" y="19659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7379208" y="19659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566928" y="2249424"/>
            <a:ext cx="7763256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3225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Pokemon Cards KSA &amp; UAE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3364992" y="23225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$1,903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4279392" y="232257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$36,581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5285232" y="232257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19.2x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971032" y="232257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$12.36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757416" y="232257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154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7379208" y="232257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566928" y="2606040"/>
            <a:ext cx="7763256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267919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2604_ASC_UAE_ROAS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3364992" y="267919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$316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4279392" y="26791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$4,799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5285232" y="2679192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15.2x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5971032" y="2679192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$15.79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6757416" y="2679192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7379208" y="26791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66928" y="2962656"/>
            <a:ext cx="7763256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303580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Format Test KSA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3364992" y="303580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$3,323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4279392" y="303580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$23,453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285232" y="3035808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7.1x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5971032" y="3035808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$31.35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6757416" y="30358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106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379208" y="3035808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CPO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566928" y="3319272"/>
            <a:ext cx="7763256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339242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2604_ASC_KSA_ROAS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3364992" y="33924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$385</a:t>
            </a:r>
            <a:endParaRPr lang="en-US" sz="740" dirty="0"/>
          </a:p>
        </p:txBody>
      </p:sp>
      <p:sp>
        <p:nvSpPr>
          <p:cNvPr id="51" name="Text 49"/>
          <p:cNvSpPr/>
          <p:nvPr/>
        </p:nvSpPr>
        <p:spPr>
          <a:xfrm>
            <a:off x="4279392" y="339242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$914</a:t>
            </a:r>
            <a:endParaRPr lang="en-US" sz="740" dirty="0"/>
          </a:p>
        </p:txBody>
      </p:sp>
      <p:sp>
        <p:nvSpPr>
          <p:cNvPr id="52" name="Text 50"/>
          <p:cNvSpPr/>
          <p:nvPr/>
        </p:nvSpPr>
        <p:spPr>
          <a:xfrm>
            <a:off x="5285232" y="3392424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2.4x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5971032" y="3392424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$76.98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6757416" y="3392424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7379208" y="3392424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Rework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566928" y="3675888"/>
            <a:ext cx="7763256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" y="374904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2604_ASC_EG_ROAS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3364992" y="374904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$117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279392" y="374904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$279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285232" y="3749040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2.4x</a:t>
            </a:r>
            <a:endParaRPr lang="en-US" sz="740" dirty="0"/>
          </a:p>
        </p:txBody>
      </p:sp>
      <p:sp>
        <p:nvSpPr>
          <p:cNvPr id="61" name="Text 59"/>
          <p:cNvSpPr/>
          <p:nvPr/>
        </p:nvSpPr>
        <p:spPr>
          <a:xfrm>
            <a:off x="5971032" y="3749040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$116.60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6757416" y="374904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7379208" y="374904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566928" y="4032504"/>
            <a:ext cx="7763256" cy="356616"/>
          </a:xfrm>
          <a:prstGeom prst="rect">
            <a:avLst/>
          </a:prstGeom>
          <a:solidFill>
            <a:srgbClr val="F8FAFC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410565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3364992" y="41056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$24,074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279392" y="410565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$240,444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285232" y="4105656"/>
            <a:ext cx="576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9.99x</a:t>
            </a:r>
            <a:endParaRPr lang="en-US" sz="740" dirty="0"/>
          </a:p>
        </p:txBody>
      </p:sp>
      <p:sp>
        <p:nvSpPr>
          <p:cNvPr id="69" name="Text 67"/>
          <p:cNvSpPr/>
          <p:nvPr/>
        </p:nvSpPr>
        <p:spPr>
          <a:xfrm>
            <a:off x="5971032" y="4105656"/>
            <a:ext cx="676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$21.53</a:t>
            </a:r>
            <a:endParaRPr lang="en-US" sz="740" dirty="0"/>
          </a:p>
        </p:txBody>
      </p:sp>
      <p:sp>
        <p:nvSpPr>
          <p:cNvPr id="70" name="Text 68"/>
          <p:cNvSpPr/>
          <p:nvPr/>
        </p:nvSpPr>
        <p:spPr>
          <a:xfrm>
            <a:off x="6757416" y="4105656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1,118</a:t>
            </a:r>
            <a:endParaRPr lang="en-US" sz="740" dirty="0"/>
          </a:p>
        </p:txBody>
      </p:sp>
      <p:sp>
        <p:nvSpPr>
          <p:cNvPr id="71" name="Text 69"/>
          <p:cNvSpPr/>
          <p:nvPr/>
        </p:nvSpPr>
        <p:spPr>
          <a:xfrm>
            <a:off x="7379208" y="4105656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740" dirty="0"/>
          </a:p>
        </p:txBody>
      </p:sp>
      <p:sp>
        <p:nvSpPr>
          <p:cNvPr id="72" name="Shape 70"/>
          <p:cNvSpPr/>
          <p:nvPr/>
        </p:nvSpPr>
        <p:spPr>
          <a:xfrm>
            <a:off x="8458200" y="1572768"/>
            <a:ext cx="2148840" cy="28346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05088" y="1828800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87384" y="191566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915400" y="1888236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read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8705088" y="226771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2A"/>
                </a:solidFill>
              </a:rPr>
              <a:t>The split made the weak things visible.</a:t>
            </a:r>
            <a:endParaRPr lang="en-US" sz="1320" dirty="0"/>
          </a:p>
        </p:txBody>
      </p:sp>
      <p:sp>
        <p:nvSpPr>
          <p:cNvPr id="77" name="Text 75"/>
          <p:cNvSpPr/>
          <p:nvPr/>
        </p:nvSpPr>
        <p:spPr>
          <a:xfrm>
            <a:off x="8705088" y="306324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080"/>
                </a:solidFill>
              </a:rPr>
              <a:t>UAE ASC is real. KSA/GCC/EG need new creative and market assumptions before more spend.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Snapchat moved from test to scale candidate.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March produced no measurable revenue; April generated $38.5K at 18.16x ROAS.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664208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82880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8288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March Snapchat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$0 revenue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532888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$541 spend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566928" y="2743200"/>
            <a:ext cx="2331720" cy="64008"/>
          </a:xfrm>
          <a:prstGeom prst="rect">
            <a:avLst/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27248" y="1664208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8288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8288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April Snapchat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291840" y="210312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$38.5K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2532888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18.16x ROAS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3127248" y="2743200"/>
            <a:ext cx="233172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87568" y="1664208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18288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8288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KSA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5852160" y="210312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20.0x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852160" y="2532888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155 purchases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687568" y="2743200"/>
            <a:ext cx="233172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1664208"/>
            <a:ext cx="23317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12480" y="182880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41080" y="182880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UAE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8412480" y="210312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11.2x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12480" y="2532888"/>
            <a:ext cx="2020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21 purchases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8247888" y="2743200"/>
            <a:ext cx="233172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3429000"/>
            <a:ext cx="7406640" cy="438912"/>
          </a:xfrm>
          <a:prstGeom prst="rect">
            <a:avLst/>
          </a:prstGeom>
          <a:solidFill>
            <a:srgbClr val="EDF2F7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35021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090672" y="3502152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142232" y="3502152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285232" y="3502152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53912" y="350215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068312" y="3502152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66928" y="3867912"/>
            <a:ext cx="7406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394106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Test KSA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090672" y="3941064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$1,670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142232" y="3941064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$33,444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85232" y="3941064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20.0x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53912" y="3941064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155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68312" y="3941064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6928" y="4306824"/>
            <a:ext cx="7406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437997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Test UAE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090672" y="4379976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$449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42232" y="437997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$5,030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285232" y="4379976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11.2x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53912" y="4379976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068312" y="4379976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745736"/>
            <a:ext cx="740664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" y="481888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090672" y="4818888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$2,119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142232" y="4818888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$38,475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285232" y="4818888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18.16x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53912" y="481888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176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068312" y="4818888"/>
            <a:ext cx="850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03504" y="5349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02A"/>
                </a:solidFill>
              </a:rPr>
              <a:t>This is the cleanest March-to-April improvement and the most underfunded May lane.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restructure turned a mixed ME average into useful market reads.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failed tests helped because they became actionable instead of hidden inside one blended campaign.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572768"/>
            <a:ext cx="8366760" cy="457200"/>
          </a:xfrm>
          <a:prstGeom prst="rect">
            <a:avLst/>
          </a:prstGeom>
          <a:solidFill>
            <a:srgbClr val="EDF2F7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4592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Area</a:t>
            </a:r>
            <a:endParaRPr lang="en-US" sz="710" dirty="0"/>
          </a:p>
        </p:txBody>
      </p:sp>
      <p:sp>
        <p:nvSpPr>
          <p:cNvPr id="10" name="Text 8"/>
          <p:cNvSpPr/>
          <p:nvPr/>
        </p:nvSpPr>
        <p:spPr>
          <a:xfrm>
            <a:off x="2130552" y="16459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/ March</a:t>
            </a:r>
            <a:endParaRPr lang="en-US" sz="710" dirty="0"/>
          </a:p>
        </p:txBody>
      </p:sp>
      <p:sp>
        <p:nvSpPr>
          <p:cNvPr id="11" name="Text 9"/>
          <p:cNvSpPr/>
          <p:nvPr/>
        </p:nvSpPr>
        <p:spPr>
          <a:xfrm>
            <a:off x="4553712" y="16459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/ April</a:t>
            </a:r>
            <a:endParaRPr lang="en-US" sz="710" dirty="0"/>
          </a:p>
        </p:txBody>
      </p:sp>
      <p:sp>
        <p:nvSpPr>
          <p:cNvPr id="12" name="Text 10"/>
          <p:cNvSpPr/>
          <p:nvPr/>
        </p:nvSpPr>
        <p:spPr>
          <a:xfrm>
            <a:off x="6976872" y="1645920"/>
            <a:ext cx="1901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improved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566928" y="2029968"/>
            <a:ext cx="8366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10312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Blended efficiency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2130552" y="21031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7.62x ROAS, $25.58 CPO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4553712" y="21031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9.85x ROAS, $21.06 CPO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6976872" y="2103120"/>
            <a:ext cx="1901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 recovered</a:t>
            </a:r>
            <a:endParaRPr lang="en-US" sz="810" dirty="0"/>
          </a:p>
        </p:txBody>
      </p:sp>
      <p:sp>
        <p:nvSpPr>
          <p:cNvPr id="18" name="Shape 16"/>
          <p:cNvSpPr/>
          <p:nvPr/>
        </p:nvSpPr>
        <p:spPr>
          <a:xfrm>
            <a:off x="566928" y="2487168"/>
            <a:ext cx="8366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56032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2130552" y="25603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6.67x ROAS, $27.70 CPO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4553712" y="25603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9.25x ROAS, $21.73 CPO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6976872" y="2560320"/>
            <a:ext cx="1901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 PMax scale engine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66928" y="2944368"/>
            <a:ext cx="8366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01752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split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2130552" y="30175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ME campaign reads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4553712" y="30175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UAE works; KSA/GCC/EG weak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6976872" y="3017520"/>
            <a:ext cx="1901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decisions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566928" y="3401568"/>
            <a:ext cx="8366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47472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bursts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2130552" y="34747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Pokemon signal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4553712" y="34747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$36.6K at 19.2x ROAS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6976872" y="3474720"/>
            <a:ext cx="1901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playbook</a:t>
            </a:r>
            <a:endParaRPr lang="en-US" sz="810" dirty="0"/>
          </a:p>
        </p:txBody>
      </p:sp>
      <p:sp>
        <p:nvSpPr>
          <p:cNvPr id="33" name="Shape 31"/>
          <p:cNvSpPr/>
          <p:nvPr/>
        </p:nvSpPr>
        <p:spPr>
          <a:xfrm>
            <a:off x="566928" y="3858768"/>
            <a:ext cx="8366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931920"/>
            <a:ext cx="13990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Snapchat</a:t>
            </a:r>
            <a:endParaRPr lang="en-US" sz="810" dirty="0"/>
          </a:p>
        </p:txBody>
      </p:sp>
      <p:sp>
        <p:nvSpPr>
          <p:cNvPr id="35" name="Text 33"/>
          <p:cNvSpPr/>
          <p:nvPr/>
        </p:nvSpPr>
        <p:spPr>
          <a:xfrm>
            <a:off x="2130552" y="39319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$541 spend, $0 revenue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4553712" y="3931920"/>
            <a:ext cx="2313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$38.5K at 18.16x ROAS</a:t>
            </a:r>
            <a:endParaRPr lang="en-US" sz="810" dirty="0"/>
          </a:p>
        </p:txBody>
      </p:sp>
      <p:sp>
        <p:nvSpPr>
          <p:cNvPr id="37" name="Text 35"/>
          <p:cNvSpPr/>
          <p:nvPr/>
        </p:nvSpPr>
        <p:spPr>
          <a:xfrm>
            <a:off x="6976872" y="3931920"/>
            <a:ext cx="19019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scale lane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9052560" y="1572768"/>
            <a:ext cx="2011680" cy="24231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99448" y="182880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81744" y="1915668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09760" y="1888236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665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9299448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Clarity is progress.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299448" y="297180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57080"/>
                </a:solidFill>
              </a:rPr>
              <a:t>UAE ASC can scale. KSA/GCC/EG should not get more budget until the creative logic changes.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lanes are obvious; weak lanes are fixable.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should scale winners while repairing the few campaigns that still leak budget.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Strong things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8932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02A"/>
                </a:solidFill>
              </a:rPr>
              <a:t>Weak things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205740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2219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21992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Snapchat KSA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31520" y="24963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20.0x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underfunded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66928" y="3044952"/>
            <a:ext cx="1572768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05740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96312" y="22219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24912" y="2221992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Pokemon Meta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2496312" y="24963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19.2x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496312" y="2926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repeatable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2331720" y="3044952"/>
            <a:ext cx="1572768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96512" y="205740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1104" y="222199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2221992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AE PMax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261104" y="24963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$156.8K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261104" y="2926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scale engine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096512" y="3044952"/>
            <a:ext cx="1572768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205740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22219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221992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SA Shop Conv.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6153912" y="24963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$33.80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153912" y="2926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CPO leak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5989320" y="3044952"/>
            <a:ext cx="1572768" cy="64008"/>
          </a:xfrm>
          <a:prstGeom prst="rect">
            <a:avLst/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54112" y="205740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18704" y="222199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47304" y="2221992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ASC KSA/EG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7918704" y="24963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2.4x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918704" y="2926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rebuild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7754112" y="3044952"/>
            <a:ext cx="1572768" cy="64008"/>
          </a:xfrm>
          <a:prstGeom prst="rect">
            <a:avLst/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18904" y="2057400"/>
            <a:ext cx="15727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83496" y="2221992"/>
            <a:ext cx="164592" cy="164592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12096" y="2221992"/>
            <a:ext cx="1069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Attribution gap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9683496" y="24963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+28.2%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683496" y="2926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watch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9518904" y="3044952"/>
            <a:ext cx="1572768" cy="64008"/>
          </a:xfrm>
          <a:prstGeom prst="rect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" y="379476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4069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</a:rPr>
              <a:t>Protect the premium order mix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22960" y="44805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080"/>
                </a:solidFill>
              </a:rPr>
              <a:t>April AOV was $184.96, above the $175 target. Scaling should not trade order quality for cheap volume.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89320" y="3794760"/>
            <a:ext cx="5074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45352" y="4069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</a:rPr>
              <a:t>Use Shopify as the ground truth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245352" y="448056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57080"/>
                </a:solidFill>
              </a:rPr>
              <a:t>GA4 was only +3.3% above Shopify; platform revenue was +28.2%. Report decisions should anchor to Shopify.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Shopify and GA4 agree closely; platform attribution is the noisy layer.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KSA and UAE drove 91.8% of ME revenue, with AOV above target.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572768"/>
            <a:ext cx="5989320" cy="393192"/>
          </a:xfrm>
          <a:prstGeom prst="rect">
            <a:avLst/>
          </a:prstGeom>
          <a:solidFill>
            <a:srgbClr val="EDF2F7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4592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2999232" y="164592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Sales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4325112" y="164592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5285232" y="164592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 Sales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66928" y="1965960"/>
            <a:ext cx="5989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03911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Saudi Arabia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2999232" y="203911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$227,741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325112" y="203911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1,297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5285232" y="203911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$223,439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66928" y="2359152"/>
            <a:ext cx="5989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432304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United Arab Emirates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2999232" y="243230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$201,960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4325112" y="243230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1,056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5285232" y="243230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$200,596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566928" y="2752344"/>
            <a:ext cx="5989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2825496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Kuwait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999232" y="2825496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$24,053</a:t>
            </a:r>
            <a:endParaRPr lang="en-US" sz="860" dirty="0"/>
          </a:p>
        </p:txBody>
      </p:sp>
      <p:sp>
        <p:nvSpPr>
          <p:cNvPr id="26" name="Text 24"/>
          <p:cNvSpPr/>
          <p:nvPr/>
        </p:nvSpPr>
        <p:spPr>
          <a:xfrm>
            <a:off x="4325112" y="282549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116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5285232" y="2825496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$23,886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66928" y="3145536"/>
            <a:ext cx="5989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21868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Qatar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2999232" y="321868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$9,296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4325112" y="321868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5285232" y="3218688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$9,265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566928" y="3538728"/>
            <a:ext cx="59893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6118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Bahrain + Oman + Other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2999232" y="361188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$5,226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4325112" y="361188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5285232" y="361188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$5,104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566928" y="3931920"/>
            <a:ext cx="5989320" cy="393192"/>
          </a:xfrm>
          <a:prstGeom prst="rect">
            <a:avLst/>
          </a:prstGeom>
          <a:solidFill>
            <a:srgbClr val="F8FAFC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005072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 Total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2999232" y="40050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$468,276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4325112" y="400507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2,532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5285232" y="40050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$465,389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6583680" y="1572768"/>
            <a:ext cx="5074920" cy="438912"/>
          </a:xfrm>
          <a:prstGeom prst="rect">
            <a:avLst/>
          </a:prstGeom>
          <a:solidFill>
            <a:srgbClr val="EDF2F7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544" y="1645920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710" dirty="0"/>
          </a:p>
        </p:txBody>
      </p:sp>
      <p:sp>
        <p:nvSpPr>
          <p:cNvPr id="45" name="Text 43"/>
          <p:cNvSpPr/>
          <p:nvPr/>
        </p:nvSpPr>
        <p:spPr>
          <a:xfrm>
            <a:off x="8055864" y="1645920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710" dirty="0"/>
          </a:p>
        </p:txBody>
      </p:sp>
      <p:sp>
        <p:nvSpPr>
          <p:cNvPr id="46" name="Text 44"/>
          <p:cNvSpPr/>
          <p:nvPr/>
        </p:nvSpPr>
        <p:spPr>
          <a:xfrm>
            <a:off x="9198864" y="1645920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710" dirty="0"/>
          </a:p>
        </p:txBody>
      </p:sp>
      <p:sp>
        <p:nvSpPr>
          <p:cNvPr id="47" name="Text 45"/>
          <p:cNvSpPr/>
          <p:nvPr/>
        </p:nvSpPr>
        <p:spPr>
          <a:xfrm>
            <a:off x="10021824" y="1645920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10" b="1" dirty="0">
                <a:solidFill>
                  <a:srgbClr val="31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</a:t>
            </a:r>
            <a:endParaRPr lang="en-US" sz="710" dirty="0"/>
          </a:p>
        </p:txBody>
      </p:sp>
      <p:sp>
        <p:nvSpPr>
          <p:cNvPr id="48" name="Shape 46"/>
          <p:cNvSpPr/>
          <p:nvPr/>
        </p:nvSpPr>
        <p:spPr>
          <a:xfrm>
            <a:off x="6583680" y="2011680"/>
            <a:ext cx="5074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38544" y="2084832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Platforms</a:t>
            </a:r>
            <a:endParaRPr lang="en-US" sz="810" dirty="0"/>
          </a:p>
        </p:txBody>
      </p:sp>
      <p:sp>
        <p:nvSpPr>
          <p:cNvPr id="50" name="Text 48"/>
          <p:cNvSpPr/>
          <p:nvPr/>
        </p:nvSpPr>
        <p:spPr>
          <a:xfrm>
            <a:off x="8055864" y="2084832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$600,131</a:t>
            </a:r>
            <a:endParaRPr lang="en-US" sz="810" dirty="0"/>
          </a:p>
        </p:txBody>
      </p:sp>
      <p:sp>
        <p:nvSpPr>
          <p:cNvPr id="51" name="Text 49"/>
          <p:cNvSpPr/>
          <p:nvPr/>
        </p:nvSpPr>
        <p:spPr>
          <a:xfrm>
            <a:off x="9198864" y="208483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~2,892</a:t>
            </a:r>
            <a:endParaRPr lang="en-US" sz="810" dirty="0"/>
          </a:p>
        </p:txBody>
      </p:sp>
      <p:sp>
        <p:nvSpPr>
          <p:cNvPr id="52" name="Text 50"/>
          <p:cNvSpPr/>
          <p:nvPr/>
        </p:nvSpPr>
        <p:spPr>
          <a:xfrm>
            <a:off x="10021824" y="208483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Platform-reported</a:t>
            </a:r>
            <a:endParaRPr lang="en-US" sz="810" dirty="0"/>
          </a:p>
        </p:txBody>
      </p:sp>
      <p:sp>
        <p:nvSpPr>
          <p:cNvPr id="53" name="Shape 51"/>
          <p:cNvSpPr/>
          <p:nvPr/>
        </p:nvSpPr>
        <p:spPr>
          <a:xfrm>
            <a:off x="6583680" y="2450592"/>
            <a:ext cx="50749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8544" y="252374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GA4 ME Total</a:t>
            </a:r>
            <a:endParaRPr lang="en-US" sz="810" dirty="0"/>
          </a:p>
        </p:txBody>
      </p:sp>
      <p:sp>
        <p:nvSpPr>
          <p:cNvPr id="55" name="Text 53"/>
          <p:cNvSpPr/>
          <p:nvPr/>
        </p:nvSpPr>
        <p:spPr>
          <a:xfrm>
            <a:off x="8055864" y="2523744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$483,646</a:t>
            </a:r>
            <a:endParaRPr lang="en-US" sz="810" dirty="0"/>
          </a:p>
        </p:txBody>
      </p:sp>
      <p:sp>
        <p:nvSpPr>
          <p:cNvPr id="56" name="Text 54"/>
          <p:cNvSpPr/>
          <p:nvPr/>
        </p:nvSpPr>
        <p:spPr>
          <a:xfrm>
            <a:off x="9198864" y="2523744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2,353</a:t>
            </a:r>
            <a:endParaRPr lang="en-US" sz="810" dirty="0"/>
          </a:p>
        </p:txBody>
      </p:sp>
      <p:sp>
        <p:nvSpPr>
          <p:cNvPr id="57" name="Text 55"/>
          <p:cNvSpPr/>
          <p:nvPr/>
        </p:nvSpPr>
        <p:spPr>
          <a:xfrm>
            <a:off x="10021824" y="2523744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 cross-check</a:t>
            </a:r>
            <a:endParaRPr lang="en-US" sz="810" dirty="0"/>
          </a:p>
        </p:txBody>
      </p:sp>
      <p:sp>
        <p:nvSpPr>
          <p:cNvPr id="58" name="Shape 56"/>
          <p:cNvSpPr/>
          <p:nvPr/>
        </p:nvSpPr>
        <p:spPr>
          <a:xfrm>
            <a:off x="6583680" y="2889504"/>
            <a:ext cx="507492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D9E1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8544" y="2962656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Shopify ME</a:t>
            </a:r>
            <a:endParaRPr lang="en-US" sz="810" dirty="0"/>
          </a:p>
        </p:txBody>
      </p:sp>
      <p:sp>
        <p:nvSpPr>
          <p:cNvPr id="60" name="Text 58"/>
          <p:cNvSpPr/>
          <p:nvPr/>
        </p:nvSpPr>
        <p:spPr>
          <a:xfrm>
            <a:off x="8055864" y="2962656"/>
            <a:ext cx="1033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$468,276</a:t>
            </a:r>
            <a:endParaRPr lang="en-US" sz="810" dirty="0"/>
          </a:p>
        </p:txBody>
      </p:sp>
      <p:sp>
        <p:nvSpPr>
          <p:cNvPr id="61" name="Text 59"/>
          <p:cNvSpPr/>
          <p:nvPr/>
        </p:nvSpPr>
        <p:spPr>
          <a:xfrm>
            <a:off x="9198864" y="2962656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2,532</a:t>
            </a:r>
            <a:endParaRPr lang="en-US" sz="810" dirty="0"/>
          </a:p>
        </p:txBody>
      </p:sp>
      <p:sp>
        <p:nvSpPr>
          <p:cNvPr id="62" name="Text 60"/>
          <p:cNvSpPr/>
          <p:nvPr/>
        </p:nvSpPr>
        <p:spPr>
          <a:xfrm>
            <a:off x="10021824" y="2962656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 truth</a:t>
            </a:r>
            <a:endParaRPr lang="en-US" sz="810" dirty="0"/>
          </a:p>
        </p:txBody>
      </p:sp>
      <p:sp>
        <p:nvSpPr>
          <p:cNvPr id="63" name="Shape 61"/>
          <p:cNvSpPr/>
          <p:nvPr/>
        </p:nvSpPr>
        <p:spPr>
          <a:xfrm>
            <a:off x="6583680" y="397764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48272" y="414223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76872" y="41422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AOV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748272" y="441655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$184.96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6748272" y="48463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above $175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6583680" y="4965192"/>
            <a:ext cx="155448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02752" y="397764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467344" y="414223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95944" y="41422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GA4 gap</a:t>
            </a:r>
            <a:endParaRPr lang="en-US" sz="780" dirty="0"/>
          </a:p>
        </p:txBody>
      </p:sp>
      <p:sp>
        <p:nvSpPr>
          <p:cNvPr id="72" name="Text 70"/>
          <p:cNvSpPr/>
          <p:nvPr/>
        </p:nvSpPr>
        <p:spPr>
          <a:xfrm>
            <a:off x="8467344" y="441655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+3.3%</a:t>
            </a:r>
            <a:endParaRPr lang="en-US" sz="2200" dirty="0"/>
          </a:p>
        </p:txBody>
      </p:sp>
      <p:sp>
        <p:nvSpPr>
          <p:cNvPr id="73" name="Text 71"/>
          <p:cNvSpPr/>
          <p:nvPr/>
        </p:nvSpPr>
        <p:spPr>
          <a:xfrm>
            <a:off x="8467344" y="48463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clean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8302752" y="4965192"/>
            <a:ext cx="1554480" cy="64008"/>
          </a:xfrm>
          <a:prstGeom prst="rect">
            <a:avLst/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021824" y="3977640"/>
            <a:ext cx="15544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86416" y="4142232"/>
            <a:ext cx="164592" cy="164592"/>
          </a:xfrm>
          <a:prstGeom prst="ellipse">
            <a:avLst/>
          </a:prstGeom>
          <a:solidFill>
            <a:srgbClr val="D99A00"/>
          </a:solidFill>
          <a:ln w="12700">
            <a:solidFill>
              <a:srgbClr val="D99A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415016" y="414223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</a:rPr>
              <a:t>Platform gap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10186416" y="441655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+28.2%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10186416" y="484632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57080"/>
                </a:solidFill>
              </a:rPr>
              <a:t>watch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10021824" y="4965192"/>
            <a:ext cx="1554480" cy="64008"/>
          </a:xfrm>
          <a:prstGeom prst="rect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605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" y="384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 plan: scale selectively, then fix the leaks.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1170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account does not need a broad budget push; it needs disciplined reallocation.</a:t>
            </a:r>
            <a:endParaRPr lang="en-US" sz="920" dirty="0"/>
          </a:p>
        </p:txBody>
      </p:sp>
      <p:sp>
        <p:nvSpPr>
          <p:cNvPr id="6" name="Text 4"/>
          <p:cNvSpPr/>
          <p:nvPr/>
        </p:nvSpPr>
        <p:spPr>
          <a:xfrm>
            <a:off x="384048" y="6537960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KICKS CREW ADS ME - April 2026 Monthly Report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5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9692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847088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29384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27632" y="18013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Scale the proven winners, not the whole account.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27632" y="216712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</a:rPr>
              <a:t>Increase Snapchat KSA, AE PMax, and Pokemon-style Meta bursts first. Review CPO every 48-72 hours.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9692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3081528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163824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27632" y="3035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Cut or rebuild weak post-split Meta lanes.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27632" y="340156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</a:rPr>
              <a:t>Pause or rebuild 2604_ASC_KSA, 2604_ASC_GCC, 2604_ASC_EG, and 2604_KSA_manual before more spend.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96926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4315968"/>
            <a:ext cx="411480" cy="411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398264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27632" y="427024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</a:rPr>
              <a:t>Fix Google drag before adding more budget.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27632" y="46360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57080"/>
                </a:solidFill>
              </a:rPr>
              <a:t>Audit SA Shop Conversion and KU PMax, then move budget into AE PMax and SA PMax until CPO normalizes.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31520" y="5532120"/>
            <a:ext cx="9692640" cy="502920"/>
          </a:xfrm>
          <a:prstGeom prst="roundRect">
            <a:avLst>
              <a:gd name="adj" fmla="val 10909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678424"/>
            <a:ext cx="8869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D4ED8"/>
                </a:solidFill>
              </a:rPr>
              <a:t>Rule for May: every extra dollar should go to a named winner or a named fix.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KICKS CREW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KICKS CREW ADS ME - April 2026 Monthly Report vs March</dc:title>
  <dc:subject>KICKS CREW ME April 2026 Monthly Report</dc:subject>
  <dc:creator>Codex</dc:creator>
  <cp:lastModifiedBy>Codex</cp:lastModifiedBy>
  <cp:revision>1</cp:revision>
  <dcterms:created xsi:type="dcterms:W3CDTF">2026-05-03T12:40:56Z</dcterms:created>
  <dcterms:modified xsi:type="dcterms:W3CDTF">2026-05-03T12:40:56Z</dcterms:modified>
</cp:coreProperties>
</file>