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13"/>
    <p:sldId id="263" r:id="rId14"/>
    <p:sldId id="258" r:id="rId4"/>
    <p:sldId id="259" r:id="rId5"/>
    <p:sldId id="260" r:id="rId6"/>
    <p:sldId id="264" r:id="rId15"/>
    <p:sldId id="265" r:id="rId16"/>
    <p:sldId id="266" r:id="rId17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REPORT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1E1E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Week: 20 Apr 2026 → 26 Apr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Mon 27 Apr 2026  ·  Targets: ROAS ≥ 7x  ·  CPO ≤ $22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554480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3840480"/>
            <a:ext cx="1554480" cy="292608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520" y="3840480"/>
            <a:ext cx="155448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743200" cy="2148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3063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10.61x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17920" y="3685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7x target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3913632"/>
            <a:ext cx="182880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023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4206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4370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$19.65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4709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target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ME — Orders &amp;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(non-cancelled) · 20 Apr 2026 → 26 Apr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 vs prev week 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GMV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$113,634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 vs prev week ↑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week: $190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Markets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countries ✅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COUNTRY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orders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99008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990088"/>
            <a:ext cx="1962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orders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50215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502152"/>
            <a:ext cx="14016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9164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orders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01421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4014216"/>
            <a:ext cx="216885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33472"/>
            <a:ext cx="3154680" cy="235915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64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0644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— MTD OKR Pacing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66666"/>
                </a:solidFill>
                <a:latin typeface="Calibri"/>
              </a:rPr>
              <a:t>Apr 1–26 (87% elapsed)  ·  FY27 Annual Target: $32M GMV · stretch ROAS: 13.5x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GMV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$394,540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 of Apr 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Ad Spend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$52,112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of Apr budget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7.57x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900" b="0">
                <a:solidFill>
                  <a:srgbClr val="EF4444"/>
                </a:solidFill>
                <a:latin typeface="Calibri"/>
              </a:rPr>
              <a:t>stretch: 13.5x ⚠️</a:t>
            </a:r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Ad Spend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Apr 2025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PROGRESS vs APRIL OKR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$394,540 of $973,913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99008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990088"/>
            <a:ext cx="14813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2,130 of 5,478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50215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502152"/>
            <a:ext cx="142280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9164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$52,112 of $72,142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01421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4014216"/>
            <a:ext cx="2640787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33472"/>
            <a:ext cx="3154680" cy="235915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HIGHLIGHTS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64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0644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— Apr 2025 vs Apr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audited accounts  ·  Apr 2025: Google only  ·  Apr 2026: Google + Meta + Snapchat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$10.7K → $52.1K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$97.7K → $504.8K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Channels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Meta + Snap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ROAS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9.16x → 9.69x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SPLIT — APR 2026 MTD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$30,656 MTD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99008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990088"/>
            <a:ext cx="2150669" cy="1828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$19,947 MTD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50215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502152"/>
            <a:ext cx="1401600" cy="182880"/>
          </a:xfrm>
          <a:prstGeom prst="rect">
            <a:avLst/>
          </a:prstGeom>
          <a:solidFill>
            <a:srgbClr val="1877F2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9164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$1,509 MTD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01421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4014216"/>
            <a:ext cx="10607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33472"/>
            <a:ext cx="3154680" cy="235915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 → APR 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64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0644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3682242765  ·  20 Apr 2026 → 26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1325880" cy="777240"/>
          </a:xfrm>
          <a:prstGeom prst="rect">
            <a:avLst/>
          </a:prstGeom>
          <a:solidFill>
            <a:srgbClr val="EBF3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$7,212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5648" y="1481328"/>
            <a:ext cx="1325880" cy="777240"/>
          </a:xfrm>
          <a:prstGeom prst="rect">
            <a:avLst/>
          </a:prstGeom>
          <a:solidFill>
            <a:srgbClr val="EBF3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55648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$73,889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91256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91256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10.24x 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26864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26864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$19.92 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62472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62472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3,795,120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39572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10.24x — above target 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39572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$19.92 — below $22 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2816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BREAKDOWN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090672"/>
            <a:ext cx="30175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37560" y="3090672"/>
            <a:ext cx="11887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26280" y="3090672"/>
            <a:ext cx="11887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3090672"/>
            <a:ext cx="109728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2280" y="3090672"/>
            <a:ext cx="109728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346704"/>
            <a:ext cx="3017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AE-Sales-PMax (UAE)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3346704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$3,736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3346704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15000" y="3346704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10.93x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3346704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648456"/>
            <a:ext cx="30175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648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KicksCrew -Shop Conv- SA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37560" y="3648456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26280" y="3648456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628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15000" y="3648456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3648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8.15x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12280" y="3648456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3648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0040" y="3950208"/>
            <a:ext cx="3017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KicksCrew -PMax- SA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337560" y="39502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3756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$2,275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26280" y="39502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715000" y="3950208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0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10.95x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812280" y="3950208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1228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4251960"/>
            <a:ext cx="30175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KicksCrew -PMax- KU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337560" y="4251960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3756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$694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26280" y="4251960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2628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715000" y="4251960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1500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5.79x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812280" y="4251960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1228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20040" y="4553712"/>
            <a:ext cx="3017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KW-Sales-PMax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337560" y="4553712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37560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526280" y="4553712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26280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715000" y="4553712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15000" y="4553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—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12280" y="4553712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12280" y="4553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act_2790197764523614  ·  20 Apr 2026 → 26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1325880" cy="777240"/>
          </a:xfrm>
          <a:prstGeom prst="rect">
            <a:avLst/>
          </a:prstGeom>
          <a:solidFill>
            <a:srgbClr val="EBF0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$4,967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5648" y="1481328"/>
            <a:ext cx="1325880" cy="777240"/>
          </a:xfrm>
          <a:prstGeom prst="rect">
            <a:avLst/>
          </a:prstGeom>
          <a:solidFill>
            <a:srgbClr val="EBF0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55648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$51,158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91256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91256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10.30x 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26864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26864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$20.53 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62472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62472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39572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10.30x — above target 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39572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3957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$20.53 — below $22 target ✅  |  Watch New Format Test KSA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2816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BREAKDOWN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090672"/>
            <a:ext cx="25603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80360" y="3090672"/>
            <a:ext cx="10058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036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86200" y="3090672"/>
            <a:ext cx="12344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20640" y="3090672"/>
            <a:ext cx="9601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090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3090672"/>
            <a:ext cx="10058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086600" y="3090672"/>
            <a:ext cx="10058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346704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46704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Catalog sales 4.0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880360" y="3346704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334670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$2,006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86200" y="3346704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346704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550,011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346704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80760" y="3346704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334670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10.59x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86600" y="3346704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334670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0040" y="3579876"/>
            <a:ext cx="25603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579876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Test KSA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880360" y="3579876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0360" y="357987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$1,003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86200" y="3579876"/>
            <a:ext cx="12344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86200" y="3579876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244,442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120640" y="3579876"/>
            <a:ext cx="9601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3579876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80760" y="3579876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0760" y="357987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4.42x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086600" y="3579876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86600" y="357987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0040" y="3813048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813048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2604_ME_conv_manual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880360" y="3813048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80360" y="3813048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886200" y="3813048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6200" y="3813048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50,918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120640" y="3813048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20640" y="3813048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080760" y="3813048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3813048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12.20x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086600" y="3813048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86600" y="3813048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20040" y="4046220"/>
            <a:ext cx="25603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4046220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Cards KSA &amp; UAE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880360" y="4046220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880360" y="4046220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$488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886200" y="4046220"/>
            <a:ext cx="12344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86200" y="4046220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127,271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20640" y="4046220"/>
            <a:ext cx="9601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20640" y="4046220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080760" y="4046220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80760" y="4046220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21.59x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086600" y="4046220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86600" y="4046220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20040" y="4279392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279392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Test KU &amp; QA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880360" y="4279392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80360" y="427939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86200" y="4279392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86200" y="427939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57,778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120640" y="4279392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20640" y="4279392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080760" y="4279392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80760" y="427939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10.32x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7086600" y="4279392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86600" y="427939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20040" y="4512564"/>
            <a:ext cx="25603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0040" y="4512564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Test Main Acct 1.0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2880360" y="4512564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880360" y="451256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886200" y="4512564"/>
            <a:ext cx="12344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86200" y="4512564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48,121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120640" y="4512564"/>
            <a:ext cx="9601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20640" y="4512564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080760" y="4512564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80760" y="451256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10.13x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086600" y="4512564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086600" y="451256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320040" y="4745736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0040" y="4745736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Catalog sales 3.0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880360" y="4745736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880360" y="474573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886200" y="4745736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886200" y="4745736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78,391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5120640" y="4745736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120640" y="4745736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080760" y="4745736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80760" y="474573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4.97x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086600" y="4745736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86600" y="474573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Ads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c938fd61  ·  20 Apr 2026 → 26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&amp; UAE both running full week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13258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55648" y="1847088"/>
            <a:ext cx="13258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55648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$12,933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91256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91256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15.60x 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26864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26864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$14.29 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62472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62472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89,226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2788920"/>
            <a:ext cx="411480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852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KSA — Sales 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17.75x ROAS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 spend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Scale KSA further; grow UAE to match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7889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BREAKDOWN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178308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63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37960" y="3063240"/>
            <a:ext cx="82296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60920" y="3063240"/>
            <a:ext cx="82296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83880" y="3063240"/>
            <a:ext cx="82296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006840" y="3063240"/>
            <a:ext cx="7772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0684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319272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Test KSA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37960" y="3319272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60920" y="3319272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83880" y="3319272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17.75x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006840" y="3319272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840" y="3319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3621024"/>
            <a:ext cx="17830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621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Test UAE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37960" y="3621024"/>
            <a:ext cx="82296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60920" y="3621024"/>
            <a:ext cx="82296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6092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83880" y="3621024"/>
            <a:ext cx="82296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8.79x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006840" y="3621024"/>
            <a:ext cx="77724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06840" y="3621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Feedback &amp; Actions for Ihab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 ·  Week 20 Apr 2026 → 26 Apr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788920" cy="327355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36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Cards — 21.6x ROAS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$488 Meta spend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Meta budget +50% test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KSA — 17.75x ROAS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172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 spend, 51 purchases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$1k/wk next sprint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886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PMax SA — 10.95x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$2,275 spend, 130 conv.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+20% budget lift this week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18688" y="1481328"/>
            <a:ext cx="2788920" cy="32735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536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FIX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55848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Test KSA — 4.42x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55848" y="2212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$1,003 spend, $44 CPO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creative &amp; landing page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10128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KU PMax — 5.79x ROAS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3172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$694 spend, $37 CPO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→ restructure bids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10128" y="38404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55848" y="3886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Catalog sales 3.0 — 4.97x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55848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 spend, only 8 purchases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audience or pause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63056" y="1481328"/>
            <a:ext cx="2788920" cy="327355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1536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WATCH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54496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0216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UAE — 8.79x, 7 purchases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0216" y="2212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signal; needs more volume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slowly, watch CPO ($28)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54496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0216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gap — 21%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0216" y="3172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$138k vs Shopify $114k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above 20% flag — monitor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54496" y="38404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0216" y="3886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CPO $19.65 ✅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0216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below $22 target!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spend mix &amp; scale winners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800600"/>
            <a:ext cx="859536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</a:ln>
        </p:spPr>
      </p:sp>
      <p:sp>
        <p:nvSpPr>
          <p:cNvPr id="3" name="Brand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</a:rPr>
              <a:t>KICKS CREW ME</a:t>
            </a:r>
          </a:p>
        </p:txBody>
      </p:sp>
      <p:sp>
        <p:nvSpPr>
          <p:cNvPr id="4" name="Sub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Ads Intelligence Report</a:t>
            </a:r>
          </a:p>
        </p:txBody>
      </p:sp>
      <p:sp>
        <p:nvSpPr>
          <p:cNvPr id="5" name="Date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Mon 27 Apr 2026</a:t>
            </a:r>
          </a:p>
        </p:txBody>
      </p:sp>
      <p:sp>
        <p:nvSpPr>
          <p:cNvPr id="6" name="Title"/>
          <p:cNvSpPr/>
          <p:nvPr/>
        </p:nvSpPr>
        <p:spPr>
          <a:xfrm>
            <a:off x="320040" y="720000"/>
            <a:ext cx="85039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Why We Can Raise Budget — The Repeat Customer Proof</a:t>
            </a:r>
          </a:p>
        </p:txBody>
      </p:sp>
      <p:sp>
        <p:nvSpPr>
          <p:cNvPr id="7" name="Subtitle"/>
          <p:cNvSpPr/>
          <p:nvPr/>
        </p:nvSpPr>
        <p:spPr>
          <a:xfrm>
            <a:off x="320040" y="1080000"/>
            <a:ext cx="8503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</a:rPr>
              <a:t>6-month baseline · Oct 2025 → Apr 2026 · Shopify ME (non-cancelled orders)</a:t>
            </a:r>
          </a:p>
        </p:txBody>
      </p:sp>
      <p:sp>
        <p:nvSpPr>
          <p:cNvPr id="10" name="Box1"/>
          <p:cNvSpPr/>
          <p:nvPr/>
        </p:nvSpPr>
        <p:spPr>
          <a:xfrm>
            <a:off x="274320" y="1340000"/>
            <a:ext cx="2600000" cy="1440000"/>
          </a:xfrm>
          <a:prstGeom prst="rect">
            <a:avLst/>
          </a:prstGeom>
          <a:solidFill>
            <a:srgbClr val="0D0D0D"/>
          </a:solidFill>
          <a:ln w="30000">
            <a:solidFill>
              <a:srgbClr val="00BCD4"/>
            </a:solidFill>
          </a:ln>
        </p:spPr>
      </p:sp>
      <p:sp>
        <p:nvSpPr>
          <p:cNvPr id="11" name="Box1Lbl"/>
          <p:cNvSpPr/>
          <p:nvPr/>
        </p:nvSpPr>
        <p:spPr>
          <a:xfrm>
            <a:off x="274320" y="1370000"/>
            <a:ext cx="2600000" cy="26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</a:rPr>
              <a:t>UAE</a:t>
            </a:r>
          </a:p>
        </p:txBody>
      </p:sp>
      <p:sp>
        <p:nvSpPr>
          <p:cNvPr id="12" name="Box1Stat"/>
          <p:cNvSpPr/>
          <p:nvPr/>
        </p:nvSpPr>
        <p:spPr>
          <a:xfrm>
            <a:off x="274320" y="1610000"/>
            <a:ext cx="26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CD4"/>
                </a:solidFill>
                <a:latin typeface="Calibri" pitchFamily="34" charset="0"/>
              </a:rPr>
              <a:t>50%</a:t>
            </a:r>
          </a:p>
        </p:txBody>
      </p:sp>
      <p:sp>
        <p:nvSpPr>
          <p:cNvPr id="13" name="Box1Sub"/>
          <p:cNvSpPr/>
          <p:nvPr/>
        </p:nvSpPr>
        <p:spPr>
          <a:xfrm>
            <a:off x="274320" y="2230000"/>
            <a:ext cx="2600000" cy="38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</a:rPr>
              <a:t>repeat customer rate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</a:rPr>
              <a:t>6-month baseline mean</a:t>
            </a:r>
          </a:p>
        </p:txBody>
      </p:sp>
      <p:sp>
        <p:nvSpPr>
          <p:cNvPr id="20" name="Box2"/>
          <p:cNvSpPr/>
          <p:nvPr/>
        </p:nvSpPr>
        <p:spPr>
          <a:xfrm>
            <a:off x="3222000" y="1340000"/>
            <a:ext cx="2600000" cy="1440000"/>
          </a:xfrm>
          <a:prstGeom prst="rect">
            <a:avLst/>
          </a:prstGeom>
          <a:solidFill>
            <a:srgbClr val="0D0D0D"/>
          </a:solidFill>
          <a:ln w="30000">
            <a:solidFill>
              <a:srgbClr val="C9A84C"/>
            </a:solidFill>
          </a:ln>
        </p:spPr>
      </p:sp>
      <p:sp>
        <p:nvSpPr>
          <p:cNvPr id="21" name="Box2Lbl"/>
          <p:cNvSpPr/>
          <p:nvPr/>
        </p:nvSpPr>
        <p:spPr>
          <a:xfrm>
            <a:off x="3222000" y="1370000"/>
            <a:ext cx="2600000" cy="26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</a:rPr>
              <a:t>KSA</a:t>
            </a:r>
          </a:p>
        </p:txBody>
      </p:sp>
      <p:sp>
        <p:nvSpPr>
          <p:cNvPr id="22" name="Box2Stat"/>
          <p:cNvSpPr/>
          <p:nvPr/>
        </p:nvSpPr>
        <p:spPr>
          <a:xfrm>
            <a:off x="3222000" y="1610000"/>
            <a:ext cx="26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84C"/>
                </a:solidFill>
                <a:latin typeface="Calibri" pitchFamily="34" charset="0"/>
              </a:rPr>
              <a:t>38%</a:t>
            </a:r>
          </a:p>
        </p:txBody>
      </p:sp>
      <p:sp>
        <p:nvSpPr>
          <p:cNvPr id="23" name="Box2Sub"/>
          <p:cNvSpPr/>
          <p:nvPr/>
        </p:nvSpPr>
        <p:spPr>
          <a:xfrm>
            <a:off x="3222000" y="2230000"/>
            <a:ext cx="2600000" cy="38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</a:rPr>
              <a:t>repeat customer rate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</a:rPr>
              <a:t>stable across all seasons</a:t>
            </a:r>
          </a:p>
        </p:txBody>
      </p:sp>
      <p:sp>
        <p:nvSpPr>
          <p:cNvPr id="30" name="Box3"/>
          <p:cNvSpPr/>
          <p:nvPr/>
        </p:nvSpPr>
        <p:spPr>
          <a:xfrm>
            <a:off x="6170000" y="1340000"/>
            <a:ext cx="2700000" cy="1440000"/>
          </a:xfrm>
          <a:prstGeom prst="rect">
            <a:avLst/>
          </a:prstGeom>
          <a:solidFill>
            <a:srgbClr val="0D0D0D"/>
          </a:solidFill>
          <a:ln w="30000">
            <a:solidFill>
              <a:srgbClr val="10B981"/>
            </a:solidFill>
          </a:ln>
        </p:spPr>
      </p:sp>
      <p:sp>
        <p:nvSpPr>
          <p:cNvPr id="31" name="Box3Lbl"/>
          <p:cNvSpPr/>
          <p:nvPr/>
        </p:nvSpPr>
        <p:spPr>
          <a:xfrm>
            <a:off x="6170000" y="1370000"/>
            <a:ext cx="2700000" cy="26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</a:rPr>
              <a:t>Effective CPO (UAE)</a:t>
            </a:r>
          </a:p>
        </p:txBody>
      </p:sp>
      <p:sp>
        <p:nvSpPr>
          <p:cNvPr id="32" name="Box3Stat"/>
          <p:cNvSpPr/>
          <p:nvPr/>
        </p:nvSpPr>
        <p:spPr>
          <a:xfrm>
            <a:off x="6170000" y="1610000"/>
            <a:ext cx="27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Calibri" pitchFamily="34" charset="0"/>
              </a:rPr>
              <a:t>$39</a:t>
            </a:r>
          </a:p>
        </p:txBody>
      </p:sp>
      <p:sp>
        <p:nvSpPr>
          <p:cNvPr id="33" name="Box3Sub"/>
          <p:cNvSpPr/>
          <p:nvPr/>
        </p:nvSpPr>
        <p:spPr>
          <a:xfrm>
            <a:off x="6170000" y="2230000"/>
            <a:ext cx="2700000" cy="38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</a:rPr>
              <a:t>new customers only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</a:rPr>
              <a:t>vs $105 max CAC ceiling</a:t>
            </a:r>
          </a:p>
        </p:txBody>
      </p:sp>
      <p:sp>
        <p:nvSpPr>
          <p:cNvPr id="40" name="TrendBg"/>
          <p:cNvSpPr/>
          <p:nvPr/>
        </p:nvSpPr>
        <p:spPr>
          <a:xfrm>
            <a:off x="274320" y="2800000"/>
            <a:ext cx="4100000" cy="205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</p:sp>
      <p:sp>
        <p:nvSpPr>
          <p:cNvPr id="41" name="TrendContent"/>
          <p:cNvSpPr/>
          <p:nvPr/>
        </p:nvSpPr>
        <p:spPr>
          <a:xfrm>
            <a:off x="370000" y="2840000"/>
            <a:ext cx="3910000" cy="19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</a:rPr>
              <a:t>UAE Repeat Rate — 6-Month History</a:t>
            </a:r>
          </a:p>
          <a:p>
            <a:pPr indent="0" marL="0">
              <a:buNone/>
            </a:pPr>
            <a:r>
              <a:rPr lang="en-US" sz="820" b="1" dirty="0">
                <a:solidFill>
                  <a:srgbClr val="888888"/>
                </a:solidFill>
                <a:latin typeface="Calibri" pitchFamily="34" charset="0"/>
              </a:rPr>
              <a:t>Period                                UAE      KSA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</a:rPr>
              <a:t>Oct-Nov 2025 (Normal)         46.9%    39.7%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</a:rPr>
              <a:t>BFCM Nov 2025                      46.0%    46.1%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</a:rPr>
              <a:t>Post-Eid Mar 2026               57-60%   39-48%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</a:rPr>
              <a:t>Apr 2026 (this week)            44.1%    35.4%</a:t>
            </a:r>
          </a:p>
          <a:p>
            <a:pPr indent="0" marL="0">
              <a:buNone/>
            </a:pPr>
            <a:r>
              <a:rPr lang="en-US" sz="820" b="1" dirty="0">
                <a:solidFill>
                  <a:srgbClr val="10B981"/>
                </a:solidFill>
                <a:latin typeface="Calibri" pitchFamily="34" charset="0"/>
              </a:rPr>
              <a:t>Baseline Mean                     50.4%    37.8%</a:t>
            </a:r>
          </a:p>
          <a:p>
            <a:pPr indent="0" marL="0">
              <a:buNone/>
            </a:pPr>
            <a:r>
              <a:rPr lang="en-US" sz="780" dirty="0">
                <a:solidFill>
                  <a:srgbClr val="888888"/>
                </a:solidFill>
                <a:latin typeface="Calibri" pitchFamily="34" charset="0"/>
              </a:rPr>
              <a:t>BFCM repeat held 46% — real buyers, not discount hunters</a:t>
            </a:r>
          </a:p>
        </p:txBody>
      </p:sp>
      <p:sp>
        <p:nvSpPr>
          <p:cNvPr id="50" name="LTVBg"/>
          <p:cNvSpPr/>
          <p:nvPr/>
        </p:nvSpPr>
        <p:spPr>
          <a:xfrm>
            <a:off x="4640000" y="2800000"/>
            <a:ext cx="4229680" cy="2050000"/>
          </a:xfrm>
          <a:prstGeom prst="rect">
            <a:avLst/>
          </a:prstGeom>
          <a:solidFill>
            <a:srgbClr val="0D0D0D"/>
          </a:solidFill>
          <a:ln w="20000">
            <a:solidFill>
              <a:srgbClr val="C9A84C"/>
            </a:solidFill>
          </a:ln>
        </p:spPr>
      </p:sp>
      <p:sp>
        <p:nvSpPr>
          <p:cNvPr id="51" name="LTVContent"/>
          <p:cNvSpPr/>
          <p:nvPr/>
        </p:nvSpPr>
        <p:spPr>
          <a:xfrm>
            <a:off x="4740000" y="2850000"/>
            <a:ext cx="402968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</a:rPr>
              <a:t>What This Means for Budget Authority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Blended CPO this week: $19.65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50% of UAE orders = repeat customers (cost $0)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</a:rPr>
              <a:t>→ Effective new-customer CPO: ~$39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Calibri" pitchFamily="34" charset="0"/>
              </a:rPr>
              <a:t> 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Max sustainable CAC (LTV model): $105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</a:rPr>
              <a:t>→ We sit at 37% of our CAC ceiling.</a:t>
            </a:r>
          </a:p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Calibri" pitchFamily="34" charset="0"/>
              </a:rPr>
              <a:t> </a:t>
            </a:r>
          </a:p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</a:rPr>
              <a:t>Budget can scale 2-3x before economics break.</a:t>
            </a:r>
          </a:p>
        </p:txBody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</a:ln>
        </p:spPr>
      </p:sp>
      <p:sp>
        <p:nvSpPr>
          <p:cNvPr id="3" name="Brand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</a:rPr>
              <a:t>KICKS CREW ME</a:t>
            </a:r>
          </a:p>
        </p:txBody>
      </p:sp>
      <p:sp>
        <p:nvSpPr>
          <p:cNvPr id="4" name="Sub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Ads Intelligence Report</a:t>
            </a:r>
          </a:p>
        </p:txBody>
      </p:sp>
      <p:sp>
        <p:nvSpPr>
          <p:cNvPr id="5" name="Date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Mon 27 Apr 2026</a:t>
            </a:r>
          </a:p>
        </p:txBody>
      </p:sp>
      <p:sp>
        <p:nvSpPr>
          <p:cNvPr id="6" name="Title"/>
          <p:cNvSpPr/>
          <p:nvPr/>
        </p:nvSpPr>
        <p:spPr>
          <a:xfrm>
            <a:off x="320040" y="720000"/>
            <a:ext cx="85039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1A1A1A"/>
                </a:solidFill>
                <a:latin typeface="Calibri"/>
              </a:rPr>
              <a:t>The Budget Gap Is Real — But $6.6K/day Is the Stretch Case</a:t>
            </a:r>
          </a:p>
        </p:txBody>
      </p:sp>
      <p:sp>
        <p:nvSpPr>
          <p:cNvPr id="7" name="Subtitle"/>
          <p:cNvSpPr/>
          <p:nvPr/>
        </p:nvSpPr>
        <p:spPr>
          <a:xfrm>
            <a:off x="320040" y="1080000"/>
            <a:ext cx="8503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66666"/>
                </a:solidFill>
                <a:latin typeface="Calibri"/>
              </a:rPr>
              <a:t>Base plan needs $8.3K-$9.5K/day unless ROAS sustains 13.3x</a:t>
            </a:r>
          </a:p>
        </p:txBody>
      </p:sp>
      <p:sp>
        <p:nvSpPr>
          <p:cNvPr id="10" name="Col1Bg"/>
          <p:cNvSpPr/>
          <p:nvPr/>
        </p:nvSpPr>
        <p:spPr>
          <a:xfrm>
            <a:off x="274320" y="1360000"/>
            <a:ext cx="2560000" cy="2700000"/>
          </a:xfrm>
          <a:prstGeom prst="rect">
            <a:avLst/>
          </a:prstGeom>
          <a:solidFill>
            <a:srgbClr val="1A1A1A"/>
          </a:solidFill>
          <a:ln w="30000">
            <a:solidFill>
              <a:srgbClr val="EF4444"/>
            </a:solidFill>
          </a:ln>
        </p:spPr>
      </p:sp>
      <p:sp>
        <p:nvSpPr>
          <p:cNvPr id="11" name="Col1Tag"/>
          <p:cNvSpPr/>
          <p:nvPr/>
        </p:nvSpPr>
        <p:spPr>
          <a:xfrm>
            <a:off x="274320" y="1390000"/>
            <a:ext cx="2560000" cy="2600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12" name="Col1Spend"/>
          <p:cNvSpPr/>
          <p:nvPr/>
        </p:nvSpPr>
        <p:spPr>
          <a:xfrm>
            <a:off x="274320" y="1700000"/>
            <a:ext cx="2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$1,700</a:t>
            </a:r>
          </a:p>
        </p:txBody>
      </p:sp>
      <p:sp>
        <p:nvSpPr>
          <p:cNvPr id="13" name="Col1DayLabel"/>
          <p:cNvSpPr/>
          <p:nvPr/>
        </p:nvSpPr>
        <p:spPr>
          <a:xfrm>
            <a:off x="274320" y="2260000"/>
            <a:ext cx="256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/day spend</a:t>
            </a:r>
          </a:p>
        </p:txBody>
      </p:sp>
      <p:sp>
        <p:nvSpPr>
          <p:cNvPr id="14" name="Col1Results"/>
          <p:cNvSpPr/>
          <p:nvPr/>
        </p:nvSpPr>
        <p:spPr>
          <a:xfrm>
            <a:off x="274320" y="2500000"/>
            <a:ext cx="2560000" cy="45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</a:rPr>
              <a:t>$113K/wk GMV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</a:rPr>
              <a:t>~$450K/month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</a:rPr>
              <a:t>~$5.4M/yr run-rate</a:t>
            </a:r>
          </a:p>
        </p:txBody>
      </p:sp>
      <p:sp>
        <p:nvSpPr>
          <p:cNvPr id="60" name="Arr1"/>
          <p:cNvSpPr/>
          <p:nvPr/>
        </p:nvSpPr>
        <p:spPr>
          <a:xfrm>
            <a:off x="2900000" y="2480000"/>
            <a:ext cx="38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20" name="Col2Bg"/>
          <p:cNvSpPr/>
          <p:nvPr/>
        </p:nvSpPr>
        <p:spPr>
          <a:xfrm>
            <a:off x="3282000" y="1360000"/>
            <a:ext cx="2560000" cy="2700000"/>
          </a:xfrm>
          <a:prstGeom prst="rect">
            <a:avLst/>
          </a:prstGeom>
          <a:solidFill>
            <a:srgbClr val="1A1A1A"/>
          </a:solidFill>
          <a:ln w="30000">
            <a:solidFill>
              <a:srgbClr val="C9A84C"/>
            </a:solidFill>
          </a:ln>
        </p:spPr>
      </p:sp>
      <p:sp>
        <p:nvSpPr>
          <p:cNvPr id="21" name="Col2Tag"/>
          <p:cNvSpPr/>
          <p:nvPr/>
        </p:nvSpPr>
        <p:spPr>
          <a:xfrm>
            <a:off x="3282000" y="1390000"/>
            <a:ext cx="2560000" cy="2600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</a:rPr>
              <a:t>2x BUDGET</a:t>
            </a:r>
          </a:p>
        </p:txBody>
      </p:sp>
      <p:sp>
        <p:nvSpPr>
          <p:cNvPr id="22" name="Col2Spend"/>
          <p:cNvSpPr/>
          <p:nvPr/>
        </p:nvSpPr>
        <p:spPr>
          <a:xfrm>
            <a:off x="3282000" y="1700000"/>
            <a:ext cx="2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</a:rPr>
              <a:t>$3,300</a:t>
            </a:r>
          </a:p>
        </p:txBody>
      </p:sp>
      <p:sp>
        <p:nvSpPr>
          <p:cNvPr id="23" name="Col2DayLabel"/>
          <p:cNvSpPr/>
          <p:nvPr/>
        </p:nvSpPr>
        <p:spPr>
          <a:xfrm>
            <a:off x="3282000" y="2260000"/>
            <a:ext cx="256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/day spend</a:t>
            </a:r>
          </a:p>
        </p:txBody>
      </p:sp>
      <p:sp>
        <p:nvSpPr>
          <p:cNvPr id="24" name="Col2Results"/>
          <p:cNvSpPr/>
          <p:nvPr/>
        </p:nvSpPr>
        <p:spPr>
          <a:xfrm>
            <a:off x="3282000" y="2500000"/>
            <a:ext cx="2560000" cy="45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C9A84C"/>
                </a:solidFill>
                <a:latin typeface="Calibri" pitchFamily="34" charset="0"/>
              </a:rPr>
              <a:t>~$226K/wk GMV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</a:rPr>
              <a:t>~$900K/month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888888"/>
                </a:solidFill>
                <a:latin typeface="Calibri" pitchFamily="34" charset="0"/>
              </a:rPr>
              <a:t>~$10.8M/yr run-rate</a:t>
            </a:r>
          </a:p>
        </p:txBody>
      </p:sp>
      <p:sp>
        <p:nvSpPr>
          <p:cNvPr id="61" name="Arr2"/>
          <p:cNvSpPr/>
          <p:nvPr/>
        </p:nvSpPr>
        <p:spPr>
          <a:xfrm>
            <a:off x="5908000" y="2480000"/>
            <a:ext cx="38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30" name="Col3Bg"/>
          <p:cNvSpPr/>
          <p:nvPr/>
        </p:nvSpPr>
        <p:spPr>
          <a:xfrm>
            <a:off x="6290000" y="1360000"/>
            <a:ext cx="2580000" cy="2700000"/>
          </a:xfrm>
          <a:prstGeom prst="rect">
            <a:avLst/>
          </a:prstGeom>
          <a:solidFill>
            <a:srgbClr val="052E16"/>
          </a:solidFill>
          <a:ln w="30000">
            <a:solidFill>
              <a:srgbClr val="10B981"/>
            </a:solidFill>
          </a:ln>
        </p:spPr>
      </p:sp>
      <p:sp>
        <p:nvSpPr>
          <p:cNvPr id="31" name="Col3Tag"/>
          <p:cNvSpPr/>
          <p:nvPr/>
        </p:nvSpPr>
        <p:spPr>
          <a:xfrm>
            <a:off x="6290000" y="1390000"/>
            <a:ext cx="2580000" cy="26000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ctr"/>
            <a:r>
              <a:rPr sz="1000" b="1">
                <a:solidFill>
                  <a:srgbClr val="10B981"/>
                </a:solidFill>
                <a:latin typeface="Calibri"/>
              </a:rPr>
              <a:t>OKR RANGE</a:t>
            </a:r>
          </a:p>
        </p:txBody>
      </p:sp>
      <p:sp>
        <p:nvSpPr>
          <p:cNvPr id="32" name="Col3Spend"/>
          <p:cNvSpPr/>
          <p:nvPr/>
        </p:nvSpPr>
        <p:spPr>
          <a:xfrm>
            <a:off x="6290000" y="1700000"/>
            <a:ext cx="258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2500" b="1">
                <a:solidFill>
                  <a:srgbClr val="10B981"/>
                </a:solidFill>
                <a:latin typeface="Calibri"/>
              </a:rPr>
              <a:t>$8.3K-$9.5K</a:t>
            </a:r>
          </a:p>
        </p:txBody>
      </p:sp>
      <p:sp>
        <p:nvSpPr>
          <p:cNvPr id="33" name="Col3DayLabel"/>
          <p:cNvSpPr/>
          <p:nvPr/>
        </p:nvSpPr>
        <p:spPr>
          <a:xfrm>
            <a:off x="6290000" y="2260000"/>
            <a:ext cx="25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 b="0">
                <a:solidFill>
                  <a:srgbClr val="86EFAC"/>
                </a:solidFill>
                <a:latin typeface="Calibri"/>
              </a:rPr>
              <a:t>/day needed</a:t>
            </a:r>
          </a:p>
        </p:txBody>
      </p:sp>
      <p:sp>
        <p:nvSpPr>
          <p:cNvPr id="34" name="Col3Results"/>
          <p:cNvSpPr/>
          <p:nvPr/>
        </p:nvSpPr>
        <p:spPr>
          <a:xfrm>
            <a:off x="6290000" y="2500000"/>
            <a:ext cx="2580000" cy="450000"/>
          </a:xfrm>
          <a:prstGeom prst="rect">
            <a:avLst/>
          </a:prstGeom>
          <a:noFill/>
          <a:ln/>
        </p:spPr>
        <p:txBody>
          <a:bodyPr wrap="square" lIns="91440" tIns="60960" rIns="91440" bIns="0" rtlCol="0" anchor="t"/>
          <a:lstStyle/>
          <a:p>
            <a:pPr algn="ctr"/>
            <a:r>
              <a:rPr sz="919" b="1">
                <a:solidFill>
                  <a:srgbClr val="10B981"/>
                </a:solidFill>
                <a:latin typeface="Calibri"/>
              </a:rPr>
              <a:t>~$615K/wk GMV</a:t>
            </a:r>
          </a:p>
          <a:p>
            <a:pPr algn="ctr"/>
            <a:r>
              <a:rPr sz="919" b="1">
                <a:solidFill>
                  <a:srgbClr val="10B981"/>
                </a:solidFill>
                <a:latin typeface="Calibri"/>
              </a:rPr>
              <a:t>$32M/yr OKR</a:t>
            </a:r>
          </a:p>
          <a:p>
            <a:pPr algn="ctr"/>
            <a:r>
              <a:rPr sz="840" b="0">
                <a:solidFill>
                  <a:srgbClr val="86EFAC"/>
                </a:solidFill>
                <a:latin typeface="Calibri"/>
              </a:rPr>
              <a:t>$6.6K requires 13.3x</a:t>
            </a:r>
          </a:p>
        </p:txBody>
      </p:sp>
      <p:sp>
        <p:nvSpPr>
          <p:cNvPr id="70" name="BannerBg"/>
          <p:cNvSpPr/>
          <p:nvPr/>
        </p:nvSpPr>
        <p:spPr>
          <a:xfrm>
            <a:off x="274320" y="4220000"/>
            <a:ext cx="8595360" cy="700000"/>
          </a:xfrm>
          <a:prstGeom prst="rect">
            <a:avLst/>
          </a:prstGeom>
          <a:solidFill>
            <a:srgbClr val="0D0D0D"/>
          </a:solidFill>
          <a:ln w="20000">
            <a:solidFill>
              <a:srgbClr val="C9A84C"/>
            </a:solidFill>
          </a:ln>
        </p:spPr>
      </p:sp>
      <p:sp>
        <p:nvSpPr>
          <p:cNvPr id="71" name="BannerText"/>
          <p:cNvSpPr/>
          <p:nvPr/>
        </p:nvSpPr>
        <p:spPr>
          <a:xfrm>
            <a:off x="274320" y="4220000"/>
            <a:ext cx="8595360" cy="700000"/>
          </a:xfrm>
          <a:prstGeom prst="rect">
            <a:avLst/>
          </a:prstGeom>
          <a:noFill/>
          <a:ln/>
        </p:spPr>
        <p:txBody>
          <a:bodyPr wrap="square" lIns="182880" tIns="0" rIns="182880" bIns="0"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Base: 9.3x Shopify ROAS. Upside: 10.6x. Validate marginal ROAS weekly; $6.6K/day is stretch, not base.</a:t>
            </a:r>
          </a:p>
        </p:txBody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</a:ln>
        </p:spPr>
      </p:sp>
      <p:sp>
        <p:nvSpPr>
          <p:cNvPr id="3" name="Brand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</a:rPr>
              <a:t>KICKS CREW ME</a:t>
            </a:r>
          </a:p>
        </p:txBody>
      </p:sp>
      <p:sp>
        <p:nvSpPr>
          <p:cNvPr id="4" name="Sub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Ads Intelligence Report</a:t>
            </a:r>
          </a:p>
        </p:txBody>
      </p:sp>
      <p:sp>
        <p:nvSpPr>
          <p:cNvPr id="5" name="Date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</a:rPr>
              <a:t>Mon 27 Apr 2026</a:t>
            </a:r>
          </a:p>
        </p:txBody>
      </p:sp>
      <p:sp>
        <p:nvSpPr>
          <p:cNvPr id="6" name="Title"/>
          <p:cNvSpPr/>
          <p:nvPr/>
        </p:nvSpPr>
        <p:spPr>
          <a:xfrm>
            <a:off x="320040" y="720000"/>
            <a:ext cx="85039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 b="1">
                <a:solidFill>
                  <a:srgbClr val="1A1A1A"/>
                </a:solidFill>
                <a:latin typeface="Calibri"/>
              </a:rPr>
              <a:t>No Saturation Proven Yet — Scale With Guardrails</a:t>
            </a:r>
          </a:p>
        </p:txBody>
      </p:sp>
      <p:sp>
        <p:nvSpPr>
          <p:cNvPr id="7" name="Subtitle"/>
          <p:cNvSpPr/>
          <p:nvPr/>
        </p:nvSpPr>
        <p:spPr>
          <a:xfrm>
            <a:off x="320040" y="1100000"/>
            <a:ext cx="8503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0">
                <a:solidFill>
                  <a:srgbClr val="666666"/>
                </a:solidFill>
                <a:latin typeface="Calibri"/>
              </a:rPr>
              <a:t>Shopify-verified ROAS is 9.3x this week · 10.6x is upside case · MMM needs weekly GMV validation</a:t>
            </a:r>
          </a:p>
        </p:txBody>
      </p:sp>
      <p:sp>
        <p:nvSpPr>
          <p:cNvPr id="10" name="Box1Bg"/>
          <p:cNvSpPr/>
          <p:nvPr/>
        </p:nvSpPr>
        <p:spPr>
          <a:xfrm>
            <a:off x="274320" y="1360000"/>
            <a:ext cx="2750000" cy="1350000"/>
          </a:xfrm>
          <a:prstGeom prst="rect">
            <a:avLst/>
          </a:prstGeom>
          <a:solidFill>
            <a:srgbClr val="0D0D0D"/>
          </a:solidFill>
          <a:ln w="30000">
            <a:solidFill>
              <a:srgbClr val="00BCD4"/>
            </a:solidFill>
          </a:ln>
        </p:spPr>
      </p:sp>
      <p:sp>
        <p:nvSpPr>
          <p:cNvPr id="11" name="Box1Text"/>
          <p:cNvSpPr/>
          <p:nvPr/>
        </p:nvSpPr>
        <p:spPr>
          <a:xfrm>
            <a:off x="274320" y="1380000"/>
            <a:ext cx="2750000" cy="131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r>
              <a:rPr sz="950" b="1">
                <a:solidFill>
                  <a:srgbClr val="00BCD4"/>
                </a:solidFill>
                <a:latin typeface="Calibri"/>
              </a:rPr>
              <a:t>SHOPIFY ROAS</a:t>
            </a:r>
          </a:p>
          <a:p>
            <a:r>
              <a:rPr sz="3600" b="1">
                <a:solidFill>
                  <a:srgbClr val="00BCD4"/>
                </a:solidFill>
                <a:latin typeface="Calibri"/>
              </a:rPr>
              <a:t>9.3x</a:t>
            </a:r>
          </a:p>
          <a:p>
            <a:r>
              <a:rPr sz="819" b="0">
                <a:solidFill>
                  <a:srgbClr val="AAAAAA"/>
                </a:solidFill>
                <a:latin typeface="Calibri"/>
              </a:rPr>
              <a:t>Apr 20-26 verified</a:t>
            </a:r>
          </a:p>
        </p:txBody>
      </p:sp>
      <p:sp>
        <p:nvSpPr>
          <p:cNvPr id="20" name="Box2Bg"/>
          <p:cNvSpPr/>
          <p:nvPr/>
        </p:nvSpPr>
        <p:spPr>
          <a:xfrm>
            <a:off x="3197000" y="1360000"/>
            <a:ext cx="2750000" cy="1350000"/>
          </a:xfrm>
          <a:prstGeom prst="rect">
            <a:avLst/>
          </a:prstGeom>
          <a:solidFill>
            <a:srgbClr val="0D0D0D"/>
          </a:solidFill>
          <a:ln w="30000">
            <a:solidFill>
              <a:srgbClr val="10B981"/>
            </a:solidFill>
          </a:ln>
        </p:spPr>
      </p:sp>
      <p:sp>
        <p:nvSpPr>
          <p:cNvPr id="21" name="Box2Text"/>
          <p:cNvSpPr/>
          <p:nvPr/>
        </p:nvSpPr>
        <p:spPr>
          <a:xfrm>
            <a:off x="3197000" y="1380000"/>
            <a:ext cx="2750000" cy="131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r>
              <a:rPr sz="950" b="1">
                <a:solidFill>
                  <a:srgbClr val="10B981"/>
                </a:solidFill>
                <a:latin typeface="Calibri"/>
              </a:rPr>
              <a:t>NEW-CUST CPO</a:t>
            </a:r>
          </a:p>
          <a:p>
            <a:r>
              <a:rPr sz="3600" b="1">
                <a:solidFill>
                  <a:srgbClr val="10B981"/>
                </a:solidFill>
                <a:latin typeface="Calibri"/>
              </a:rPr>
              <a:t>$39</a:t>
            </a:r>
          </a:p>
          <a:p>
            <a:r>
              <a:rPr sz="819" b="0">
                <a:solidFill>
                  <a:srgbClr val="AAAAAA"/>
                </a:solidFill>
                <a:latin typeface="Calibri"/>
              </a:rPr>
              <a:t>proxy · not hard CAC</a:t>
            </a:r>
          </a:p>
        </p:txBody>
      </p:sp>
      <p:sp>
        <p:nvSpPr>
          <p:cNvPr id="30" name="Box3Bg"/>
          <p:cNvSpPr/>
          <p:nvPr/>
        </p:nvSpPr>
        <p:spPr>
          <a:xfrm>
            <a:off x="6120000" y="1360000"/>
            <a:ext cx="2750000" cy="1350000"/>
          </a:xfrm>
          <a:prstGeom prst="rect">
            <a:avLst/>
          </a:prstGeom>
          <a:solidFill>
            <a:srgbClr val="0D0D0D"/>
          </a:solidFill>
          <a:ln w="30000">
            <a:solidFill>
              <a:srgbClr val="C9A84C"/>
            </a:solidFill>
          </a:ln>
        </p:spPr>
      </p:sp>
      <p:sp>
        <p:nvSpPr>
          <p:cNvPr id="31" name="Box3Text"/>
          <p:cNvSpPr/>
          <p:nvPr/>
        </p:nvSpPr>
        <p:spPr>
          <a:xfrm>
            <a:off x="6120000" y="1380000"/>
            <a:ext cx="2750000" cy="131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r>
              <a:rPr sz="950" b="1">
                <a:solidFill>
                  <a:srgbClr val="C9A84C"/>
                </a:solidFill>
                <a:latin typeface="Calibri"/>
              </a:rPr>
              <a:t>UAE REPEAT RATE</a:t>
            </a:r>
          </a:p>
          <a:p>
            <a:r>
              <a:rPr sz="3600" b="1">
                <a:solidFill>
                  <a:srgbClr val="C9A84C"/>
                </a:solidFill>
                <a:latin typeface="Calibri"/>
              </a:rPr>
              <a:t>50%</a:t>
            </a:r>
          </a:p>
          <a:p>
            <a:r>
              <a:rPr sz="819" b="0">
                <a:solidFill>
                  <a:srgbClr val="AAAAAA"/>
                </a:solidFill>
                <a:latin typeface="Calibri"/>
              </a:rPr>
              <a:t>stable across BFCM + Eid</a:t>
            </a:r>
          </a:p>
        </p:txBody>
      </p:sp>
      <p:sp>
        <p:nvSpPr>
          <p:cNvPr id="39" name="ScenarioHeader"/>
          <p:cNvSpPr/>
          <p:nvPr/>
        </p:nvSpPr>
        <p:spPr>
          <a:xfrm>
            <a:off x="274320" y="2820000"/>
            <a:ext cx="85953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444444"/>
                </a:solidFill>
                <a:latin typeface="Calibri"/>
              </a:rPr>
              <a:t>BUDGET RANGE TO $32M OKR</a:t>
            </a:r>
          </a:p>
        </p:txBody>
      </p:sp>
      <p:sp>
        <p:nvSpPr>
          <p:cNvPr id="40" name="S1Bg"/>
          <p:cNvSpPr/>
          <p:nvPr/>
        </p:nvSpPr>
        <p:spPr>
          <a:xfrm>
            <a:off x="274320" y="3040000"/>
            <a:ext cx="2050000" cy="1870000"/>
          </a:xfrm>
          <a:prstGeom prst="rect">
            <a:avLst/>
          </a:prstGeom>
          <a:solidFill>
            <a:srgbClr val="F9F9F9"/>
          </a:solidFill>
          <a:ln w="30000">
            <a:solidFill>
              <a:srgbClr val="EF4444"/>
            </a:solidFill>
          </a:ln>
        </p:spPr>
      </p:sp>
      <p:sp>
        <p:nvSpPr>
          <p:cNvPr id="41" name="S1Text"/>
          <p:cNvSpPr/>
          <p:nvPr/>
        </p:nvSpPr>
        <p:spPr>
          <a:xfrm>
            <a:off x="274320" y="3060000"/>
            <a:ext cx="2050000" cy="183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</a:rPr>
              <a:t>TODAY</a:t>
            </a:r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</a:rPr>
              <a:t>$1,700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per day</a:t>
            </a:r>
          </a:p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</a:rPr>
              <a:t>↓</a:t>
            </a:r>
          </a:p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</a:rPr>
              <a:t>$5.9M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Calibri" pitchFamily="34" charset="0"/>
              </a:rPr>
              <a:t>annual GMV</a:t>
            </a:r>
          </a:p>
          <a:p>
            <a:pPr algn="ctr" indent="0" marL="0">
              <a:buNone/>
            </a:pPr>
            <a:r>
              <a:rPr lang="en-US" sz="820" b="1" dirty="0">
                <a:solidFill>
                  <a:srgbClr val="EF4444"/>
                </a:solidFill>
                <a:latin typeface="Calibri" pitchFamily="34" charset="0"/>
              </a:rPr>
              <a:t>18% of OKR</a:t>
            </a:r>
          </a:p>
        </p:txBody>
      </p:sp>
      <p:sp>
        <p:nvSpPr>
          <p:cNvPr id="50" name="S2Bg"/>
          <p:cNvSpPr/>
          <p:nvPr/>
        </p:nvSpPr>
        <p:spPr>
          <a:xfrm>
            <a:off x="2404000" y="3040000"/>
            <a:ext cx="2050000" cy="1870000"/>
          </a:xfrm>
          <a:prstGeom prst="rect">
            <a:avLst/>
          </a:prstGeom>
          <a:solidFill>
            <a:srgbClr val="F9F9F9"/>
          </a:solidFill>
          <a:ln w="30000">
            <a:solidFill>
              <a:srgbClr val="C9A84C"/>
            </a:solidFill>
          </a:ln>
        </p:spPr>
      </p:sp>
      <p:sp>
        <p:nvSpPr>
          <p:cNvPr id="51" name="S2Text"/>
          <p:cNvSpPr/>
          <p:nvPr/>
        </p:nvSpPr>
        <p:spPr>
          <a:xfrm>
            <a:off x="2404000" y="3060000"/>
            <a:ext cx="2050000" cy="183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</a:rPr>
              <a:t>2× SPEND</a:t>
            </a:r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</a:rPr>
              <a:t>$3,400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per day</a:t>
            </a:r>
          </a:p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</a:rPr>
              <a:t>↓</a:t>
            </a:r>
          </a:p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</a:rPr>
              <a:t>$11.8M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Calibri" pitchFamily="34" charset="0"/>
              </a:rPr>
              <a:t>annual GMV</a:t>
            </a:r>
          </a:p>
          <a:p>
            <a:pPr algn="ctr" indent="0" marL="0">
              <a:buNone/>
            </a:pPr>
            <a:r>
              <a:rPr lang="en-US" sz="820" b="1" dirty="0">
                <a:solidFill>
                  <a:srgbClr val="C9A84C"/>
                </a:solidFill>
                <a:latin typeface="Calibri" pitchFamily="34" charset="0"/>
              </a:rPr>
              <a:t>37% of OKR</a:t>
            </a:r>
          </a:p>
        </p:txBody>
      </p:sp>
      <p:sp>
        <p:nvSpPr>
          <p:cNvPr id="60" name="S3Bg"/>
          <p:cNvSpPr/>
          <p:nvPr/>
        </p:nvSpPr>
        <p:spPr>
          <a:xfrm>
            <a:off x="4534000" y="3040000"/>
            <a:ext cx="2050000" cy="1870000"/>
          </a:xfrm>
          <a:prstGeom prst="rect">
            <a:avLst/>
          </a:prstGeom>
          <a:solidFill>
            <a:srgbClr val="F9F9F9"/>
          </a:solidFill>
          <a:ln w="30000">
            <a:solidFill>
              <a:srgbClr val="00BCD4"/>
            </a:solidFill>
          </a:ln>
        </p:spPr>
      </p:sp>
      <p:sp>
        <p:nvSpPr>
          <p:cNvPr id="61" name="S3Text"/>
          <p:cNvSpPr/>
          <p:nvPr/>
        </p:nvSpPr>
        <p:spPr>
          <a:xfrm>
            <a:off x="4534000" y="3060000"/>
            <a:ext cx="2050000" cy="183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</a:rPr>
              <a:t>3× SPEND</a:t>
            </a:r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</a:rPr>
              <a:t>$5,100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</a:rPr>
              <a:t>per day</a:t>
            </a:r>
          </a:p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</a:rPr>
              <a:t>↓</a:t>
            </a:r>
          </a:p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</a:rPr>
              <a:t>$17.6M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888888"/>
                </a:solidFill>
                <a:latin typeface="Calibri" pitchFamily="34" charset="0"/>
              </a:rPr>
              <a:t>annual GMV</a:t>
            </a:r>
          </a:p>
          <a:p>
            <a:pPr algn="ctr" indent="0" marL="0">
              <a:buNone/>
            </a:pPr>
            <a:r>
              <a:rPr lang="en-US" sz="820" b="1" dirty="0">
                <a:solidFill>
                  <a:srgbClr val="00BCD4"/>
                </a:solidFill>
                <a:latin typeface="Calibri" pitchFamily="34" charset="0"/>
              </a:rPr>
              <a:t>55% of OKR</a:t>
            </a:r>
          </a:p>
        </p:txBody>
      </p:sp>
      <p:sp>
        <p:nvSpPr>
          <p:cNvPr id="70" name="S4Bg"/>
          <p:cNvSpPr/>
          <p:nvPr/>
        </p:nvSpPr>
        <p:spPr>
          <a:xfrm>
            <a:off x="6664000" y="3040000"/>
            <a:ext cx="2205680" cy="1870000"/>
          </a:xfrm>
          <a:prstGeom prst="rect">
            <a:avLst/>
          </a:prstGeom>
          <a:solidFill>
            <a:srgbClr val="052E16"/>
          </a:solidFill>
          <a:ln w="30000">
            <a:solidFill>
              <a:srgbClr val="10B981"/>
            </a:solidFill>
          </a:ln>
        </p:spPr>
      </p:sp>
      <p:sp>
        <p:nvSpPr>
          <p:cNvPr id="71" name="S4Text"/>
          <p:cNvSpPr/>
          <p:nvPr/>
        </p:nvSpPr>
        <p:spPr>
          <a:xfrm>
            <a:off x="6664000" y="3060000"/>
            <a:ext cx="2205680" cy="1830000"/>
          </a:xfrm>
          <a:prstGeom prst="rect">
            <a:avLst/>
          </a:prstGeom>
          <a:noFill/>
          <a:ln/>
        </p:spPr>
        <p:txBody>
          <a:bodyPr wrap="square" lIns="60960" tIns="60960" rIns="60960" bIns="60960" rtlCol="0" anchor="t"/>
          <a:lstStyle/>
          <a:p>
            <a:r>
              <a:rPr sz="1050" b="1">
                <a:solidFill>
                  <a:srgbClr val="10B981"/>
                </a:solidFill>
                <a:latin typeface="Calibri"/>
              </a:rPr>
              <a:t>✓ OKR RANGE</a:t>
            </a:r>
          </a:p>
          <a:p>
            <a:r>
              <a:rPr sz="1900" b="1">
                <a:solidFill>
                  <a:srgbClr val="FFFFFF"/>
                </a:solidFill>
                <a:latin typeface="Calibri"/>
              </a:rPr>
              <a:t>$8.3K-$9.5K</a:t>
            </a:r>
          </a:p>
          <a:p>
            <a:r>
              <a:rPr sz="900" b="0">
                <a:solidFill>
                  <a:srgbClr val="AAAAAA"/>
                </a:solidFill>
                <a:latin typeface="Calibri"/>
              </a:rPr>
              <a:t>per day</a:t>
            </a:r>
          </a:p>
          <a:p>
            <a:r>
              <a:rPr sz="1000" b="0">
                <a:solidFill>
                  <a:srgbClr val="AAAAAA"/>
                </a:solidFill>
                <a:latin typeface="Calibri"/>
              </a:rPr>
              <a:t>↓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$32M</a:t>
            </a:r>
          </a:p>
          <a:p>
            <a:r>
              <a:rPr sz="900" b="0">
                <a:solidFill>
                  <a:srgbClr val="AAAAAA"/>
                </a:solidFill>
                <a:latin typeface="Calibri"/>
              </a:rPr>
              <a:t>annual GMV</a:t>
            </a:r>
          </a:p>
          <a:p>
            <a:r>
              <a:rPr sz="850" b="0">
                <a:solidFill>
                  <a:srgbClr val="86EFAC"/>
                </a:solidFill>
                <a:latin typeface="Calibri"/>
              </a:rPr>
              <a:t>at 9.3x-10.6x</a:t>
            </a:r>
          </a:p>
        </p:txBody>
      </p:sp>
      <p:sp>
        <p:nvSpPr>
          <p:cNvPr id="80" name="Footer"/>
          <p:cNvSpPr/>
          <p:nvPr/>
        </p:nvSpPr>
        <p:spPr>
          <a:xfrm>
            <a:off x="274320" y="5000000"/>
            <a:ext cx="859536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0" b="0">
                <a:solidFill>
                  <a:srgbClr val="999999"/>
                </a:solidFill>
                <a:latin typeface="Calibri"/>
              </a:rPr>
              <a:t>Do not use $6.6K/day as the base plan; it requires 13.3x sustained ROAS. Track marginal ROAS weekly before each scale step.</a:t>
            </a:r>
          </a:p>
        </p:txBody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KICKS CREW ME — Weekly Ads Report</dc:title>
  <dc:subject>PptxGenJS Presentation</dc:subject>
  <dc:creator>PptxGenJS</dc:creator>
  <cp:lastModifiedBy>PptxGenJS</cp:lastModifiedBy>
  <cp:revision>1</cp:revision>
  <dcterms:created xsi:type="dcterms:W3CDTF">2026-04-13T09:57:31Z</dcterms:created>
  <dcterms:modified xsi:type="dcterms:W3CDTF">2026-04-13T09:57:31Z</dcterms:modified>
</cp:coreProperties>
</file>